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566" r:id="rId2"/>
    <p:sldId id="258" r:id="rId3"/>
    <p:sldId id="593" r:id="rId4"/>
    <p:sldId id="621" r:id="rId5"/>
    <p:sldId id="622" r:id="rId6"/>
    <p:sldId id="623" r:id="rId7"/>
    <p:sldId id="624" r:id="rId8"/>
    <p:sldId id="625" r:id="rId9"/>
    <p:sldId id="627" r:id="rId10"/>
    <p:sldId id="628" r:id="rId11"/>
    <p:sldId id="629" r:id="rId12"/>
    <p:sldId id="630" r:id="rId13"/>
    <p:sldId id="631" r:id="rId14"/>
    <p:sldId id="632" r:id="rId15"/>
    <p:sldId id="633" r:id="rId16"/>
    <p:sldId id="635" r:id="rId17"/>
    <p:sldId id="637" r:id="rId18"/>
    <p:sldId id="638" r:id="rId19"/>
    <p:sldId id="636" r:id="rId20"/>
    <p:sldId id="640" r:id="rId21"/>
    <p:sldId id="641" r:id="rId22"/>
    <p:sldId id="642" r:id="rId23"/>
    <p:sldId id="58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Jw+xVc2kc63/xgO2kdtMw8huev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ECA3E6-0A51-3B6D-E00D-F1E4DB20FFEB}" name="KHEANG KIM ANG" initials="" userId="S::kimang.kheang@cadt.edu.kh::c1bc5b59-4c24-4a1d-8390-78078aba67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AA6F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0BD0D1-5134-4630-968A-EB55C5758A8E}">
  <a:tblStyle styleId="{EC0BD0D1-5134-4630-968A-EB55C5758A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2"/>
    <p:restoredTop sz="91577" autoAdjust="0"/>
  </p:normalViewPr>
  <p:slideViewPr>
    <p:cSldViewPr snapToGrid="0">
      <p:cViewPr>
        <p:scale>
          <a:sx n="106" d="100"/>
          <a:sy n="106" d="100"/>
        </p:scale>
        <p:origin x="5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2619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3439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75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mangKhenng/express-separat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etstore.swagger.io/" TargetMode="External"/><Relationship Id="rId2" Type="http://schemas.openxmlformats.org/officeDocument/2006/relationships/hyperlink" Target="https://restfulapi.net/" TargetMode="Externa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27760" y="1428932"/>
            <a:ext cx="1016067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3600" b="1" i="0" u="none" strike="noStrike" cap="none" dirty="0">
                <a:solidFill>
                  <a:srgbClr val="262626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WEEK 4 – </a:t>
            </a:r>
            <a:r>
              <a:rPr lang="pt-BR" sz="3600" b="1" i="0" u="none" strike="noStrike" cap="none" dirty="0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  REST API Design + Modular Express</a:t>
            </a:r>
            <a:endParaRPr sz="1100" b="0" i="0" u="none" strike="noStrike" cap="none" dirty="0">
              <a:solidFill>
                <a:srgbClr val="F58C29"/>
              </a:solidFill>
              <a:latin typeface="Source Sans 3" panose="020B03030304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09327" y="626725"/>
            <a:ext cx="67285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BACK-END DEVELOPMENT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54839" y="1324987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880" y="6021238"/>
            <a:ext cx="990977" cy="51767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225358-26FF-9DCB-20B9-EF0780C47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03" y="3063990"/>
            <a:ext cx="3018295" cy="258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28478" y="647095"/>
            <a:ext cx="722412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After Finishin</a:t>
            </a:r>
            <a:r>
              <a:rPr lang="en-US" sz="4000" b="1" dirty="0">
                <a:solidFill>
                  <a:schemeClr val="dk1"/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g This Lecture:</a:t>
            </a:r>
            <a:endParaRPr sz="4000" b="1" i="0" u="none" strike="noStrike" cap="none" dirty="0">
              <a:solidFill>
                <a:schemeClr val="dk1"/>
              </a:solidFill>
              <a:latin typeface="Source Sans 3" panose="020B0303030403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1628478" y="1779727"/>
            <a:ext cx="959197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REST principles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clean API routes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Modularize Express apps from top (entry point) to bottom (features)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to build a modular Express server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good REST API design patterns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top-down architecture to Node.js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Graphic 83" descr="Server">
            <a:extLst>
              <a:ext uri="{FF2B5EF4-FFF2-40B4-BE49-F238E27FC236}">
                <a16:creationId xmlns:a16="http://schemas.microsoft.com/office/drawing/2014/main" id="{93353EAD-11CA-F83F-37F3-1E36D56B7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BAAC549B-FC9C-2910-7222-9AF75BE3DDD2}"/>
              </a:ext>
            </a:extLst>
          </p:cNvPr>
          <p:cNvSpPr txBox="1"/>
          <p:nvPr/>
        </p:nvSpPr>
        <p:spPr>
          <a:xfrm>
            <a:off x="5759354" y="457201"/>
            <a:ext cx="5878464" cy="133328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an API?</a:t>
            </a:r>
            <a:endParaRPr lang="en-US" sz="5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3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F2E623-7783-2958-ECC7-4CDFEDAB858D}"/>
              </a:ext>
            </a:extLst>
          </p:cNvPr>
          <p:cNvSpPr txBox="1"/>
          <p:nvPr/>
        </p:nvSpPr>
        <p:spPr>
          <a:xfrm>
            <a:off x="5759354" y="2798064"/>
            <a:ext cx="5461095" cy="341761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API (Application Programming Interface)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is a set of rules that allows two software applications to communicate with each other.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400050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Acts as a </a:t>
            </a: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messenger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between systems.</a:t>
            </a:r>
          </a:p>
          <a:p>
            <a:pPr marL="400050" indent="-342900">
              <a:lnSpc>
                <a:spcPct val="90000"/>
              </a:lnSpc>
              <a:buFont typeface="Wingdings" pitchFamily="2" charset="2"/>
              <a:buChar char="ü"/>
            </a:pP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400050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Hides internal implementation details, exposing only what’s necessary.</a:t>
            </a:r>
          </a:p>
          <a:p>
            <a:pPr marL="400050" indent="-342900">
              <a:lnSpc>
                <a:spcPct val="90000"/>
              </a:lnSpc>
              <a:buFont typeface="Wingdings" pitchFamily="2" charset="2"/>
              <a:buChar char="ü"/>
            </a:pP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400050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Can be </a:t>
            </a: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(e.g., Twitter API), </a:t>
            </a: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, or </a:t>
            </a: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partner-only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32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D69EC-ECB8-8526-2227-9AA0B6C5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90F155D5-83CE-8E1E-94B6-3EB5E0354E14}"/>
              </a:ext>
            </a:extLst>
          </p:cNvPr>
          <p:cNvSpPr txBox="1"/>
          <p:nvPr/>
        </p:nvSpPr>
        <p:spPr>
          <a:xfrm>
            <a:off x="630935" y="639520"/>
            <a:ext cx="7225177" cy="98321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an API? (</a:t>
            </a:r>
            <a:r>
              <a:rPr lang="en-US" sz="4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</a:t>
            </a: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8B051-29BA-3254-A548-927D0D420431}"/>
              </a:ext>
            </a:extLst>
          </p:cNvPr>
          <p:cNvSpPr txBox="1"/>
          <p:nvPr/>
        </p:nvSpPr>
        <p:spPr>
          <a:xfrm>
            <a:off x="630935" y="2807208"/>
            <a:ext cx="560244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Real-World Analogy: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restaurant menu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like an API: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(the client) use the menu to request food.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kitchen (the server) prepares it without you knowing how.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waiter (API) delivers the result.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6C88C5-7C35-1B3F-4AAD-54299B38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24"/>
          <a:stretch>
            <a:fillRect/>
          </a:stretch>
        </p:blipFill>
        <p:spPr>
          <a:xfrm>
            <a:off x="6250178" y="2807208"/>
            <a:ext cx="5310887" cy="239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3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10F30-1347-876F-0319-47EA6C52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B9300E47-566B-536A-7258-4816F8191D68}"/>
              </a:ext>
            </a:extLst>
          </p:cNvPr>
          <p:cNvSpPr txBox="1"/>
          <p:nvPr/>
        </p:nvSpPr>
        <p:spPr>
          <a:xfrm>
            <a:off x="1285240" y="1050595"/>
            <a:ext cx="8074815" cy="9458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REST?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BA4420-E7A7-A772-6E9E-9FD894283CC2}"/>
              </a:ext>
            </a:extLst>
          </p:cNvPr>
          <p:cNvSpPr txBox="1"/>
          <p:nvPr/>
        </p:nvSpPr>
        <p:spPr>
          <a:xfrm>
            <a:off x="1285240" y="2619715"/>
            <a:ext cx="8074815" cy="31501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 = Representational State Transfer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Coined by Roy Fielding in his 2000 Ph.D. dissertation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design pattern or </a:t>
            </a: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architectural style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building scalable web services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REST uses standard </a:t>
            </a:r>
            <a:r>
              <a:rPr lang="en-US" sz="2400" b="1" dirty="0"/>
              <a:t>HTTP methods</a:t>
            </a:r>
            <a:r>
              <a:rPr lang="en-US" sz="2400" dirty="0"/>
              <a:t> to perform operations on </a:t>
            </a:r>
            <a:r>
              <a:rPr lang="en-US" sz="2400" b="1" dirty="0"/>
              <a:t>resources</a:t>
            </a:r>
            <a:r>
              <a:rPr lang="en-US" sz="2400" dirty="0"/>
              <a:t>, which are identified by </a:t>
            </a:r>
            <a:r>
              <a:rPr lang="en-US" sz="2400" b="1" dirty="0"/>
              <a:t>URLs</a:t>
            </a:r>
            <a:r>
              <a:rPr lang="en-US" sz="2400" dirty="0"/>
              <a:t>.</a:t>
            </a:r>
            <a:endParaRPr lang="en-KH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55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348EB-B72D-FE1F-2E39-5F1F6671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0E257FEE-2376-D58F-A5BF-09BF56311178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REST Concepts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7F9D53-198A-F5D2-336A-76D21B041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62243"/>
              </p:ext>
            </p:extLst>
          </p:nvPr>
        </p:nvGraphicFramePr>
        <p:xfrm>
          <a:off x="320040" y="2926007"/>
          <a:ext cx="11548873" cy="3001284"/>
        </p:xfrm>
        <a:graphic>
          <a:graphicData uri="http://schemas.openxmlformats.org/drawingml/2006/table">
            <a:tbl>
              <a:tblPr>
                <a:tableStyleId>{EC0BD0D1-5134-4630-968A-EB55C5758A8E}</a:tableStyleId>
              </a:tblPr>
              <a:tblGrid>
                <a:gridCol w="2796736">
                  <a:extLst>
                    <a:ext uri="{9D8B030D-6E8A-4147-A177-3AD203B41FA5}">
                      <a16:colId xmlns:a16="http://schemas.microsoft.com/office/drawing/2014/main" val="4133046808"/>
                    </a:ext>
                  </a:extLst>
                </a:gridCol>
                <a:gridCol w="8752137">
                  <a:extLst>
                    <a:ext uri="{9D8B030D-6E8A-4147-A177-3AD203B41FA5}">
                      <a16:colId xmlns:a16="http://schemas.microsoft.com/office/drawing/2014/main" val="578861208"/>
                    </a:ext>
                  </a:extLst>
                </a:gridCol>
              </a:tblGrid>
              <a:tr h="750321">
                <a:tc>
                  <a:txBody>
                    <a:bodyPr/>
                    <a:lstStyle/>
                    <a:p>
                      <a:r>
                        <a:rPr lang="en-US" sz="2500" b="1" cap="none" spc="0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L="134673" marR="96195" marT="96195" marB="192390" anchor="ctr"/>
                </a:tc>
                <a:tc>
                  <a:txBody>
                    <a:bodyPr/>
                    <a:lstStyle/>
                    <a:p>
                      <a:r>
                        <a:rPr lang="en-US" sz="2500" b="1" cap="none" spc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134673" marR="96195" marT="96195" marB="192390" anchor="ctr"/>
                </a:tc>
                <a:extLst>
                  <a:ext uri="{0D108BD9-81ED-4DB2-BD59-A6C34878D82A}">
                    <a16:rowId xmlns:a16="http://schemas.microsoft.com/office/drawing/2014/main" val="1883303692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Resource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673" marR="96195" marT="96195" marB="192390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Any object or data entity (e.g., user, post, product)</a:t>
                      </a:r>
                    </a:p>
                  </a:txBody>
                  <a:tcPr marL="134673" marR="96195" marT="96195" marB="192390" anchor="ctr"/>
                </a:tc>
                <a:extLst>
                  <a:ext uri="{0D108BD9-81ED-4DB2-BD59-A6C34878D82A}">
                    <a16:rowId xmlns:a16="http://schemas.microsoft.com/office/drawing/2014/main" val="3217286607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Representation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673" marR="96195" marT="96195" marB="192390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A format to represent the resource (typically JSON)</a:t>
                      </a:r>
                    </a:p>
                  </a:txBody>
                  <a:tcPr marL="134673" marR="96195" marT="96195" marB="192390" anchor="ctr"/>
                </a:tc>
                <a:extLst>
                  <a:ext uri="{0D108BD9-81ED-4DB2-BD59-A6C34878D82A}">
                    <a16:rowId xmlns:a16="http://schemas.microsoft.com/office/drawing/2014/main" val="3514728744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State Transfer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673" marR="96195" marT="96195" marB="192390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Client sends and receives the current state of the resource</a:t>
                      </a:r>
                    </a:p>
                  </a:txBody>
                  <a:tcPr marL="134673" marR="96195" marT="96195" marB="192390" anchor="ctr"/>
                </a:tc>
                <a:extLst>
                  <a:ext uri="{0D108BD9-81ED-4DB2-BD59-A6C34878D82A}">
                    <a16:rowId xmlns:a16="http://schemas.microsoft.com/office/drawing/2014/main" val="139970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24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13FB92B3-46C2-545C-219D-289CBDBEBBE1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Resource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911E6-8A11-7A71-FF46-FDD8477F6708}"/>
              </a:ext>
            </a:extLst>
          </p:cNvPr>
          <p:cNvSpPr txBox="1"/>
          <p:nvPr/>
        </p:nvSpPr>
        <p:spPr>
          <a:xfrm>
            <a:off x="1137365" y="2203102"/>
            <a:ext cx="73426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/posts/123 –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Retrieve a specific post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"id": 123,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"title": "What is REST?",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"content": "REST stands for Representational State Transfer..."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5DBD8-85B7-F7E1-DC2E-0C5353C5D1EB}"/>
              </a:ext>
            </a:extLst>
          </p:cNvPr>
          <p:cNvSpPr txBox="1"/>
          <p:nvPr/>
        </p:nvSpPr>
        <p:spPr>
          <a:xfrm>
            <a:off x="1137365" y="4075445"/>
            <a:ext cx="73426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/posts/ –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a new post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POST /posts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"title": "Understanding HTTP Methods",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"content": "Let's learn about GET, POST, PUT, and DELETE..."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402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3728B-37C0-FECF-E764-0F7E4AAD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54B294B9-2EA5-11B2-EB05-BA93F080A8CF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Methods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447BAC-29C7-AFD0-959E-B876D0C1C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953748"/>
              </p:ext>
            </p:extLst>
          </p:nvPr>
        </p:nvGraphicFramePr>
        <p:xfrm>
          <a:off x="585265" y="2633472"/>
          <a:ext cx="11018422" cy="35863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86510">
                  <a:extLst>
                    <a:ext uri="{9D8B030D-6E8A-4147-A177-3AD203B41FA5}">
                      <a16:colId xmlns:a16="http://schemas.microsoft.com/office/drawing/2014/main" val="2801642767"/>
                    </a:ext>
                  </a:extLst>
                </a:gridCol>
                <a:gridCol w="3424455">
                  <a:extLst>
                    <a:ext uri="{9D8B030D-6E8A-4147-A177-3AD203B41FA5}">
                      <a16:colId xmlns:a16="http://schemas.microsoft.com/office/drawing/2014/main" val="452347062"/>
                    </a:ext>
                  </a:extLst>
                </a:gridCol>
                <a:gridCol w="5207457">
                  <a:extLst>
                    <a:ext uri="{9D8B030D-6E8A-4147-A177-3AD203B41FA5}">
                      <a16:colId xmlns:a16="http://schemas.microsoft.com/office/drawing/2014/main" val="318030001"/>
                    </a:ext>
                  </a:extLst>
                </a:gridCol>
              </a:tblGrid>
              <a:tr h="597726">
                <a:tc>
                  <a:txBody>
                    <a:bodyPr/>
                    <a:lstStyle/>
                    <a:p>
                      <a:r>
                        <a:rPr lang="en-US" sz="2100" b="1"/>
                        <a:t>Method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 b="1"/>
                        <a:t>Action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Description</a:t>
                      </a:r>
                    </a:p>
                  </a:txBody>
                  <a:tcPr marL="135847" marR="135847" marT="67923" marB="67923" anchor="ctr"/>
                </a:tc>
                <a:extLst>
                  <a:ext uri="{0D108BD9-81ED-4DB2-BD59-A6C34878D82A}">
                    <a16:rowId xmlns:a16="http://schemas.microsoft.com/office/drawing/2014/main" val="1537333230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r>
                        <a:rPr lang="en-US" sz="2100"/>
                        <a:t>GET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Read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Fetch a resource</a:t>
                      </a:r>
                    </a:p>
                  </a:txBody>
                  <a:tcPr marL="135847" marR="135847" marT="67923" marB="67923" anchor="ctr"/>
                </a:tc>
                <a:extLst>
                  <a:ext uri="{0D108BD9-81ED-4DB2-BD59-A6C34878D82A}">
                    <a16:rowId xmlns:a16="http://schemas.microsoft.com/office/drawing/2014/main" val="2917501296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r>
                        <a:rPr lang="en-US" sz="2100"/>
                        <a:t>POST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Create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Add a new resource</a:t>
                      </a:r>
                    </a:p>
                  </a:txBody>
                  <a:tcPr marL="135847" marR="135847" marT="67923" marB="67923" anchor="ctr"/>
                </a:tc>
                <a:extLst>
                  <a:ext uri="{0D108BD9-81ED-4DB2-BD59-A6C34878D82A}">
                    <a16:rowId xmlns:a16="http://schemas.microsoft.com/office/drawing/2014/main" val="2962074515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r>
                        <a:rPr lang="en-US" sz="2100"/>
                        <a:t>PUT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Update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Replace an existing resource</a:t>
                      </a:r>
                    </a:p>
                  </a:txBody>
                  <a:tcPr marL="135847" marR="135847" marT="67923" marB="67923" anchor="ctr"/>
                </a:tc>
                <a:extLst>
                  <a:ext uri="{0D108BD9-81ED-4DB2-BD59-A6C34878D82A}">
                    <a16:rowId xmlns:a16="http://schemas.microsoft.com/office/drawing/2014/main" val="3233015067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r>
                        <a:rPr lang="en-US" sz="2100"/>
                        <a:t>PATCH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Partial Update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Modify part of a resource</a:t>
                      </a:r>
                    </a:p>
                  </a:txBody>
                  <a:tcPr marL="135847" marR="135847" marT="67923" marB="67923" anchor="ctr"/>
                </a:tc>
                <a:extLst>
                  <a:ext uri="{0D108BD9-81ED-4DB2-BD59-A6C34878D82A}">
                    <a16:rowId xmlns:a16="http://schemas.microsoft.com/office/drawing/2014/main" val="2021710099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r>
                        <a:rPr lang="en-US" sz="2100"/>
                        <a:t>DELETE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Delete</a:t>
                      </a:r>
                    </a:p>
                  </a:txBody>
                  <a:tcPr marL="135847" marR="135847" marT="67923" marB="67923" anchor="ctr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Remove a resource</a:t>
                      </a:r>
                    </a:p>
                  </a:txBody>
                  <a:tcPr marL="135847" marR="135847" marT="67923" marB="67923" anchor="ctr"/>
                </a:tc>
                <a:extLst>
                  <a:ext uri="{0D108BD9-81ED-4DB2-BD59-A6C34878D82A}">
                    <a16:rowId xmlns:a16="http://schemas.microsoft.com/office/drawing/2014/main" val="1839284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07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BE1CA-627D-6422-187A-AC1F75C7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965C0-0539-9C30-F548-2FCE80A7AE2D}"/>
              </a:ext>
            </a:extLst>
          </p:cNvPr>
          <p:cNvSpPr txBox="1"/>
          <p:nvPr/>
        </p:nvSpPr>
        <p:spPr>
          <a:xfrm>
            <a:off x="1285240" y="2560321"/>
            <a:ext cx="9961880" cy="3209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resource represents a logical data entity. Each resource is identified by a URI and manipulated using standard HTTP methods.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User: Represents a person using your app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Post: A blog article or comment</a:t>
            </a:r>
          </a:p>
        </p:txBody>
      </p: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9C8CB50D-4D2B-9CAC-CB24-12BE37A4C2E6}"/>
              </a:ext>
            </a:extLst>
          </p:cNvPr>
          <p:cNvSpPr txBox="1"/>
          <p:nvPr/>
        </p:nvSpPr>
        <p:spPr>
          <a:xfrm>
            <a:off x="1285240" y="1050595"/>
            <a:ext cx="8074815" cy="101795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REST Concepts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2086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FF965-07C3-7580-0E4D-E41BCEDE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B6FE8-53F6-DC9B-88B5-2C9CF82A8C76}"/>
              </a:ext>
            </a:extLst>
          </p:cNvPr>
          <p:cNvSpPr txBox="1"/>
          <p:nvPr/>
        </p:nvSpPr>
        <p:spPr>
          <a:xfrm>
            <a:off x="1285240" y="2669085"/>
            <a:ext cx="8074815" cy="31007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URI (Uniform Resource Identifier)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URI is the address used to access resources. RESTful APIs use URIs to uniquely identify resources.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/users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list of users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/posts/123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a specific post with ID 123</a:t>
            </a:r>
          </a:p>
        </p:txBody>
      </p:sp>
      <p:sp>
        <p:nvSpPr>
          <p:cNvPr id="3" name="Google Shape;109;p3">
            <a:extLst>
              <a:ext uri="{FF2B5EF4-FFF2-40B4-BE49-F238E27FC236}">
                <a16:creationId xmlns:a16="http://schemas.microsoft.com/office/drawing/2014/main" id="{DA371411-3963-7C68-2C38-84C83775BCFF}"/>
              </a:ext>
            </a:extLst>
          </p:cNvPr>
          <p:cNvSpPr txBox="1"/>
          <p:nvPr/>
        </p:nvSpPr>
        <p:spPr>
          <a:xfrm>
            <a:off x="1285240" y="1050595"/>
            <a:ext cx="8074815" cy="101795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REST Concepts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1031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1C919-5C4F-EB27-412B-9B505C72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CD218-FC8B-69DE-D34D-35620417BEC7}"/>
              </a:ext>
            </a:extLst>
          </p:cNvPr>
          <p:cNvSpPr txBox="1"/>
          <p:nvPr/>
        </p:nvSpPr>
        <p:spPr>
          <a:xfrm>
            <a:off x="1285240" y="2499361"/>
            <a:ext cx="8074815" cy="3270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Stateless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request from a client to the server must contain all necessary information to process it. The server does not retain any session state between requests.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Implications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Improves scalability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 APIs easier to debug and cache</a:t>
            </a:r>
          </a:p>
        </p:txBody>
      </p:sp>
      <p:sp>
        <p:nvSpPr>
          <p:cNvPr id="3" name="Google Shape;109;p3">
            <a:extLst>
              <a:ext uri="{FF2B5EF4-FFF2-40B4-BE49-F238E27FC236}">
                <a16:creationId xmlns:a16="http://schemas.microsoft.com/office/drawing/2014/main" id="{8FE9FBC7-029E-35EF-2DF9-0860F630AC9D}"/>
              </a:ext>
            </a:extLst>
          </p:cNvPr>
          <p:cNvSpPr txBox="1"/>
          <p:nvPr/>
        </p:nvSpPr>
        <p:spPr>
          <a:xfrm>
            <a:off x="1285240" y="1050595"/>
            <a:ext cx="8074815" cy="101795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REST Concepts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149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3BAD4-9376-C593-664B-5D436D3F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FB9476E8-35FC-076B-3A84-8467A4A19877}"/>
              </a:ext>
            </a:extLst>
          </p:cNvPr>
          <p:cNvSpPr txBox="1"/>
          <p:nvPr/>
        </p:nvSpPr>
        <p:spPr>
          <a:xfrm>
            <a:off x="1285240" y="1050595"/>
            <a:ext cx="8074815" cy="101795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REST Concepts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BB453-D6FD-D014-3B4B-DDD1BFDA40F4}"/>
              </a:ext>
            </a:extLst>
          </p:cNvPr>
          <p:cNvSpPr txBox="1"/>
          <p:nvPr/>
        </p:nvSpPr>
        <p:spPr>
          <a:xfrm>
            <a:off x="1285240" y="2529840"/>
            <a:ext cx="8074815" cy="3240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Representation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resource can have multiple representations (e.g., JSON, XML). Clients interact with the representation, not the actual resource.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Common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JSON (JavaScript Object Notation)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C5CDD-4431-43E2-B2FA-0DC0523D6E60}"/>
              </a:ext>
            </a:extLst>
          </p:cNvPr>
          <p:cNvSpPr txBox="1"/>
          <p:nvPr/>
        </p:nvSpPr>
        <p:spPr>
          <a:xfrm>
            <a:off x="1309441" y="47064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KH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Aft>
                <a:spcPts val="600"/>
              </a:spcAft>
            </a:pPr>
            <a:r>
              <a:rPr lang="en-KH" dirty="0">
                <a:latin typeface="Courier New" panose="02070309020205020404" pitchFamily="49" charset="0"/>
                <a:cs typeface="Courier New" panose="02070309020205020404" pitchFamily="49" charset="0"/>
              </a:rPr>
              <a:t>  "id": 123,</a:t>
            </a:r>
          </a:p>
          <a:p>
            <a:pPr>
              <a:spcAft>
                <a:spcPts val="600"/>
              </a:spcAft>
            </a:pPr>
            <a:r>
              <a:rPr lang="en-KH" dirty="0">
                <a:latin typeface="Courier New" panose="02070309020205020404" pitchFamily="49" charset="0"/>
                <a:cs typeface="Courier New" panose="02070309020205020404" pitchFamily="49" charset="0"/>
              </a:rPr>
              <a:t>  "title": "REST Basics",</a:t>
            </a:r>
          </a:p>
          <a:p>
            <a:pPr>
              <a:spcAft>
                <a:spcPts val="600"/>
              </a:spcAft>
            </a:pPr>
            <a:r>
              <a:rPr lang="en-KH" dirty="0">
                <a:latin typeface="Courier New" panose="02070309020205020404" pitchFamily="49" charset="0"/>
                <a:cs typeface="Courier New" panose="02070309020205020404" pitchFamily="49" charset="0"/>
              </a:rPr>
              <a:t>  "author": "Alice"</a:t>
            </a:r>
          </a:p>
          <a:p>
            <a:pPr>
              <a:spcAft>
                <a:spcPts val="600"/>
              </a:spcAft>
            </a:pPr>
            <a:r>
              <a:rPr lang="en-KH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58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A288A-9299-C7EF-A7C3-ABEB9C8C2FFC}"/>
              </a:ext>
            </a:extLst>
          </p:cNvPr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RESTful Endpoint Design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34AAF-85DB-8B48-F36C-4218D7A6E391}"/>
              </a:ext>
            </a:extLst>
          </p:cNvPr>
          <p:cNvSpPr txBox="1"/>
          <p:nvPr/>
        </p:nvSpPr>
        <p:spPr>
          <a:xfrm>
            <a:off x="320040" y="2599509"/>
            <a:ext cx="5227320" cy="2764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Plural Nouns for Routes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 should be treated as collections.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Stick to nouns, not verbs.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Why?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It reflects REST’s resource-oriented architecture.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7C8988-2AB9-7FB3-20CC-60F464FE8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991272"/>
              </p:ext>
            </p:extLst>
          </p:nvPr>
        </p:nvGraphicFramePr>
        <p:xfrm>
          <a:off x="5547360" y="2543313"/>
          <a:ext cx="5514450" cy="3596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7410">
                  <a:extLst>
                    <a:ext uri="{9D8B030D-6E8A-4147-A177-3AD203B41FA5}">
                      <a16:colId xmlns:a16="http://schemas.microsoft.com/office/drawing/2014/main" val="1151403671"/>
                    </a:ext>
                  </a:extLst>
                </a:gridCol>
                <a:gridCol w="1719544">
                  <a:extLst>
                    <a:ext uri="{9D8B030D-6E8A-4147-A177-3AD203B41FA5}">
                      <a16:colId xmlns:a16="http://schemas.microsoft.com/office/drawing/2014/main" val="452851371"/>
                    </a:ext>
                  </a:extLst>
                </a:gridCol>
                <a:gridCol w="2477496">
                  <a:extLst>
                    <a:ext uri="{9D8B030D-6E8A-4147-A177-3AD203B41FA5}">
                      <a16:colId xmlns:a16="http://schemas.microsoft.com/office/drawing/2014/main" val="3200704060"/>
                    </a:ext>
                  </a:extLst>
                </a:gridCol>
              </a:tblGrid>
              <a:tr h="687449">
                <a:tc>
                  <a:txBody>
                    <a:bodyPr/>
                    <a:lstStyle/>
                    <a:p>
                      <a:r>
                        <a:rPr lang="en-US" sz="1700" b="1"/>
                        <a:t>HTTP Verb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Endpoint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Description</a:t>
                      </a:r>
                    </a:p>
                  </a:txBody>
                  <a:tcPr marL="113581" marR="113581" marT="56790" marB="56790" anchor="ctr"/>
                </a:tc>
                <a:extLst>
                  <a:ext uri="{0D108BD9-81ED-4DB2-BD59-A6C34878D82A}">
                    <a16:rowId xmlns:a16="http://schemas.microsoft.com/office/drawing/2014/main" val="1143871078"/>
                  </a:ext>
                </a:extLst>
              </a:tr>
              <a:tr h="423168">
                <a:tc>
                  <a:txBody>
                    <a:bodyPr/>
                    <a:lstStyle/>
                    <a:p>
                      <a:r>
                        <a:rPr lang="en-US" sz="1700"/>
                        <a:t>GET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/api/posts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Get all blog posts</a:t>
                      </a:r>
                    </a:p>
                  </a:txBody>
                  <a:tcPr marL="113581" marR="113581" marT="56790" marB="56790" anchor="ctr"/>
                </a:tc>
                <a:extLst>
                  <a:ext uri="{0D108BD9-81ED-4DB2-BD59-A6C34878D82A}">
                    <a16:rowId xmlns:a16="http://schemas.microsoft.com/office/drawing/2014/main" val="841755981"/>
                  </a:ext>
                </a:extLst>
              </a:tr>
              <a:tr h="687449">
                <a:tc>
                  <a:txBody>
                    <a:bodyPr/>
                    <a:lstStyle/>
                    <a:p>
                      <a:r>
                        <a:rPr lang="en-US" sz="1700"/>
                        <a:t>GET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/api/posts/:id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Get a single post by ID</a:t>
                      </a:r>
                    </a:p>
                  </a:txBody>
                  <a:tcPr marL="113581" marR="113581" marT="56790" marB="56790" anchor="ctr"/>
                </a:tc>
                <a:extLst>
                  <a:ext uri="{0D108BD9-81ED-4DB2-BD59-A6C34878D82A}">
                    <a16:rowId xmlns:a16="http://schemas.microsoft.com/office/drawing/2014/main" val="1065962483"/>
                  </a:ext>
                </a:extLst>
              </a:tr>
              <a:tr h="687449">
                <a:tc>
                  <a:txBody>
                    <a:bodyPr/>
                    <a:lstStyle/>
                    <a:p>
                      <a:r>
                        <a:rPr lang="en-US" sz="1700"/>
                        <a:t>POST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/api/posts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Create a new blog post</a:t>
                      </a:r>
                    </a:p>
                  </a:txBody>
                  <a:tcPr marL="113581" marR="113581" marT="56790" marB="56790" anchor="ctr"/>
                </a:tc>
                <a:extLst>
                  <a:ext uri="{0D108BD9-81ED-4DB2-BD59-A6C34878D82A}">
                    <a16:rowId xmlns:a16="http://schemas.microsoft.com/office/drawing/2014/main" val="2529118060"/>
                  </a:ext>
                </a:extLst>
              </a:tr>
              <a:tr h="687449">
                <a:tc>
                  <a:txBody>
                    <a:bodyPr/>
                    <a:lstStyle/>
                    <a:p>
                      <a:r>
                        <a:rPr lang="en-US" sz="1700" dirty="0"/>
                        <a:t>PATCH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/api/posts/:id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Update an existing post</a:t>
                      </a:r>
                    </a:p>
                  </a:txBody>
                  <a:tcPr marL="113581" marR="113581" marT="56790" marB="56790" anchor="ctr"/>
                </a:tc>
                <a:extLst>
                  <a:ext uri="{0D108BD9-81ED-4DB2-BD59-A6C34878D82A}">
                    <a16:rowId xmlns:a16="http://schemas.microsoft.com/office/drawing/2014/main" val="774858378"/>
                  </a:ext>
                </a:extLst>
              </a:tr>
              <a:tr h="423168">
                <a:tc>
                  <a:txBody>
                    <a:bodyPr/>
                    <a:lstStyle/>
                    <a:p>
                      <a:r>
                        <a:rPr lang="en-US" sz="1700"/>
                        <a:t>DELETE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/api/posts/:id</a:t>
                      </a:r>
                    </a:p>
                  </a:txBody>
                  <a:tcPr marL="113581" marR="113581" marT="56790" marB="5679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Delete a post</a:t>
                      </a:r>
                    </a:p>
                  </a:txBody>
                  <a:tcPr marL="113581" marR="113581" marT="56790" marB="56790" anchor="ctr"/>
                </a:tc>
                <a:extLst>
                  <a:ext uri="{0D108BD9-81ED-4DB2-BD59-A6C34878D82A}">
                    <a16:rowId xmlns:a16="http://schemas.microsoft.com/office/drawing/2014/main" val="2195576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65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26FB6-8851-EEFA-FB1B-4B865FED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65E78-046E-3278-99AC-A86BA932F2FB}"/>
              </a:ext>
            </a:extLst>
          </p:cNvPr>
          <p:cNvSpPr txBox="1"/>
          <p:nvPr/>
        </p:nvSpPr>
        <p:spPr>
          <a:xfrm>
            <a:off x="1285240" y="1050596"/>
            <a:ext cx="8074815" cy="10356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RESTful Endpoint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E2866-A4BB-51B4-3AB6-47EE14A47F72}"/>
              </a:ext>
            </a:extLst>
          </p:cNvPr>
          <p:cNvSpPr txBox="1"/>
          <p:nvPr/>
        </p:nvSpPr>
        <p:spPr>
          <a:xfrm>
            <a:off x="1281860" y="3096404"/>
            <a:ext cx="329184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b="1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  <a:p>
            <a:pPr>
              <a:lnSpc>
                <a:spcPct val="90000"/>
              </a:lnSpc>
            </a:pPr>
            <a:r>
              <a:rPr lang="en-US" sz="2400" b="1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Bad</a:t>
            </a:r>
            <a:r>
              <a:rPr lang="en-US" sz="2400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getPosts</a:t>
            </a:r>
            <a:endParaRPr lang="en-US" sz="2400" kern="1200" dirty="0">
              <a:solidFill>
                <a:schemeClr val="tx1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createPost</a:t>
            </a:r>
            <a:endParaRPr lang="en-US" sz="2400" kern="1200" dirty="0">
              <a:solidFill>
                <a:schemeClr val="tx1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FE0F3-38DD-434D-9DA7-2A5B5F1FF478}"/>
              </a:ext>
            </a:extLst>
          </p:cNvPr>
          <p:cNvSpPr txBox="1"/>
          <p:nvPr/>
        </p:nvSpPr>
        <p:spPr>
          <a:xfrm>
            <a:off x="4814139" y="3393382"/>
            <a:ext cx="6732687" cy="2071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Good</a:t>
            </a:r>
            <a:r>
              <a:rPr lang="en-US" sz="2400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Use HTTP methods to convey actions: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 (not 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getPosts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POST 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 (not /</a:t>
            </a:r>
            <a:r>
              <a:rPr lang="en-US" sz="24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createPost</a:t>
            </a:r>
            <a:r>
              <a:rPr lang="en-US" sz="24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D06D5-AF6B-A1FF-8F5E-565B25A0F078}"/>
              </a:ext>
            </a:extLst>
          </p:cNvPr>
          <p:cNvSpPr txBox="1"/>
          <p:nvPr/>
        </p:nvSpPr>
        <p:spPr>
          <a:xfrm>
            <a:off x="1285240" y="2499757"/>
            <a:ext cx="6096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Avoid Verbs in the URI</a:t>
            </a:r>
          </a:p>
        </p:txBody>
      </p:sp>
    </p:spTree>
    <p:extLst>
      <p:ext uri="{BB962C8B-B14F-4D97-AF65-F5344CB8AC3E}">
        <p14:creationId xmlns:p14="http://schemas.microsoft.com/office/powerpoint/2010/main" val="167302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4883D-FE4E-8B00-681F-D082F4D3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420D7-98C6-E57D-63CD-2283DCB04469}"/>
              </a:ext>
            </a:extLst>
          </p:cNvPr>
          <p:cNvSpPr txBox="1"/>
          <p:nvPr/>
        </p:nvSpPr>
        <p:spPr>
          <a:xfrm>
            <a:off x="1285240" y="1050595"/>
            <a:ext cx="8074815" cy="930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RESTful Endpoint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A74F6-0AA4-19E7-7775-3B170D6B2400}"/>
              </a:ext>
            </a:extLst>
          </p:cNvPr>
          <p:cNvSpPr txBox="1"/>
          <p:nvPr/>
        </p:nvSpPr>
        <p:spPr>
          <a:xfrm>
            <a:off x="1285240" y="2408521"/>
            <a:ext cx="9199880" cy="3361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Sub-resources / Nested Resources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relationships between resources:</a:t>
            </a:r>
            <a:b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/</a:t>
            </a:r>
            <a:r>
              <a:rPr lang="en-US" sz="22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/posts/123/comments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Comments on post #123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POST /</a:t>
            </a:r>
            <a:r>
              <a:rPr lang="en-US" sz="22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/posts/123/comments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Add comment to post #123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145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FC15B-290D-4AA5-1D60-A9BF164C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B5B34-E9E6-A6A8-A52B-1027675EE692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Status Codes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95A0B-9A7C-C613-0813-30D4C8E2769F}"/>
              </a:ext>
            </a:extLst>
          </p:cNvPr>
          <p:cNvSpPr txBox="1"/>
          <p:nvPr/>
        </p:nvSpPr>
        <p:spPr>
          <a:xfrm>
            <a:off x="5061579" y="552091"/>
            <a:ext cx="6938397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 status codes are 3-digit responses sent by the server to indicate the result of a client's request.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Success Codes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 OK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Request succeeded</a:t>
            </a:r>
            <a:b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Successfully retrieved a list of posts with </a:t>
            </a: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/</a:t>
            </a:r>
            <a:r>
              <a:rPr lang="en-US" sz="22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kern="1200" dirty="0">
              <a:solidFill>
                <a:schemeClr val="tx1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 Created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Resource was successfully created</a:t>
            </a:r>
            <a:b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new post was created with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POST /</a:t>
            </a:r>
            <a:r>
              <a:rPr lang="en-US" sz="22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</a:t>
            </a:r>
            <a:r>
              <a:rPr lang="en-US" sz="2200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/posts</a:t>
            </a:r>
          </a:p>
        </p:txBody>
      </p:sp>
    </p:spTree>
    <p:extLst>
      <p:ext uri="{BB962C8B-B14F-4D97-AF65-F5344CB8AC3E}">
        <p14:creationId xmlns:p14="http://schemas.microsoft.com/office/powerpoint/2010/main" val="2985439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A5BE-FDE0-D5A3-E6FB-45811C75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604B86-D485-B38A-C5C1-76C2FD7EC7D9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Status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A177C-0F4E-5554-58E8-1E51DCFB94D8}"/>
              </a:ext>
            </a:extLst>
          </p:cNvPr>
          <p:cNvSpPr txBox="1"/>
          <p:nvPr/>
        </p:nvSpPr>
        <p:spPr>
          <a:xfrm>
            <a:off x="3282845" y="552091"/>
            <a:ext cx="8717131" cy="5922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 Error Codes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400 Bad Request</a:t>
            </a:r>
            <a:r>
              <a:rPr lang="en-US" sz="2000" dirty="0"/>
              <a:t> – The request is malformed or missing required data</a:t>
            </a:r>
            <a:br>
              <a:rPr lang="en-US" sz="2000" dirty="0"/>
            </a:br>
            <a:r>
              <a:rPr lang="en-US" sz="2000" i="1" dirty="0"/>
              <a:t>Example</a:t>
            </a:r>
            <a:r>
              <a:rPr lang="en-US" sz="2000" dirty="0"/>
              <a:t>: Missing title field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POST 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/posts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401 Unauthorized</a:t>
            </a:r>
            <a:r>
              <a:rPr lang="en-US" sz="2000" dirty="0"/>
              <a:t> – Client must authenticate before accessing the resource</a:t>
            </a:r>
            <a:br>
              <a:rPr lang="en-US" sz="2000" dirty="0"/>
            </a:br>
            <a:r>
              <a:rPr lang="en-US" sz="2000" i="1" dirty="0"/>
              <a:t>Example</a:t>
            </a:r>
            <a:r>
              <a:rPr lang="en-US" sz="2000" dirty="0"/>
              <a:t>: Accessing a protected route without a valid token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404 Not Found</a:t>
            </a:r>
            <a:r>
              <a:rPr lang="en-US" sz="2000" dirty="0"/>
              <a:t> – The requested resource does not exist</a:t>
            </a:r>
            <a:br>
              <a:rPr lang="en-US" sz="2000" dirty="0"/>
            </a:br>
            <a:r>
              <a:rPr lang="en-US" sz="2000" i="1" dirty="0"/>
              <a:t>Example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/posts/9999 </a:t>
            </a:r>
            <a:r>
              <a:rPr lang="en-US" sz="2000" dirty="0"/>
              <a:t>when post ID 9999 doesn't exist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Server Error Code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500 Internal Server Error</a:t>
            </a:r>
            <a:r>
              <a:rPr lang="en-US" sz="2000" dirty="0"/>
              <a:t> – Something went wrong on the server</a:t>
            </a:r>
            <a:br>
              <a:rPr lang="en-US" sz="2000" dirty="0"/>
            </a:br>
            <a:r>
              <a:rPr lang="en-US" sz="2000" i="1" dirty="0"/>
              <a:t>Example</a:t>
            </a:r>
            <a:r>
              <a:rPr lang="en-US" sz="2000" dirty="0"/>
              <a:t>: An unexpected exception or database crash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9304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C39083-5676-5BF6-E0DA-78EBA531011E}"/>
              </a:ext>
            </a:extLst>
          </p:cNvPr>
          <p:cNvSpPr txBox="1"/>
          <p:nvPr/>
        </p:nvSpPr>
        <p:spPr>
          <a:xfrm>
            <a:off x="1285240" y="1050595"/>
            <a:ext cx="8074815" cy="994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Traditional Express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C322A-E79F-F4FA-2CF1-8919C006941D}"/>
              </a:ext>
            </a:extLst>
          </p:cNvPr>
          <p:cNvSpPr txBox="1"/>
          <p:nvPr/>
        </p:nvSpPr>
        <p:spPr>
          <a:xfrm>
            <a:off x="1285240" y="2472689"/>
            <a:ext cx="8074815" cy="3297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File = All Logic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 beginners write everything in a single file: </a:t>
            </a:r>
            <a:r>
              <a:rPr lang="en-US" sz="1700" kern="1200" dirty="0" err="1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server.js</a:t>
            </a:r>
            <a:endParaRPr lang="en-US" sz="1700" kern="1200" dirty="0">
              <a:solidFill>
                <a:schemeClr val="tx1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Routes, middleware, controllers, and DB logic are all jammed together</a:t>
            </a:r>
            <a:b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Problems with This Approach: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 to maintain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Adding new features becomes messy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separation of concerns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Logic for different parts of the app is mixed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Difficult to test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You can’t easily isolate logic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Poor scalability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Hard to onboard new developers or grow the codebase</a:t>
            </a:r>
          </a:p>
        </p:txBody>
      </p:sp>
    </p:spTree>
    <p:extLst>
      <p:ext uri="{BB962C8B-B14F-4D97-AF65-F5344CB8AC3E}">
        <p14:creationId xmlns:p14="http://schemas.microsoft.com/office/powerpoint/2010/main" val="4282053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808B4-F1E3-5F7E-93BF-4142AA3E758B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Separation of Concern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5CA9C-5BD0-A854-46AD-CAF08EEA6F1D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layer handles a single responsibility: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Handle URLs and method mapping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Controllers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Handle request/response logic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Handle data interaction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Cleaner and more understandable code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FD248D-AAEE-450B-ACAD-ED97D95A0517}"/>
              </a:ext>
            </a:extLst>
          </p:cNvPr>
          <p:cNvGrpSpPr/>
          <p:nvPr/>
        </p:nvGrpSpPr>
        <p:grpSpPr>
          <a:xfrm>
            <a:off x="5619116" y="2121408"/>
            <a:ext cx="6403592" cy="3647066"/>
            <a:chOff x="1761351" y="1625816"/>
            <a:chExt cx="8669297" cy="4745004"/>
          </a:xfrm>
        </p:grpSpPr>
        <p:pic>
          <p:nvPicPr>
            <p:cNvPr id="2" name="Picture 1" descr="A diagram of a software system&#10;&#10;AI-generated content may be incorrect.">
              <a:extLst>
                <a:ext uri="{FF2B5EF4-FFF2-40B4-BE49-F238E27FC236}">
                  <a16:creationId xmlns:a16="http://schemas.microsoft.com/office/drawing/2014/main" id="{E3328245-14FD-EBDB-E908-6741D722E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2225"/>
            <a:stretch>
              <a:fillRect/>
            </a:stretch>
          </p:blipFill>
          <p:spPr>
            <a:xfrm>
              <a:off x="1761351" y="1625816"/>
              <a:ext cx="8669297" cy="33784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40E2B5F-2988-E4DB-F4B2-D665831779CD}"/>
                </a:ext>
              </a:extLst>
            </p:cNvPr>
            <p:cNvSpPr/>
            <p:nvPr/>
          </p:nvSpPr>
          <p:spPr>
            <a:xfrm>
              <a:off x="6340839" y="4678791"/>
              <a:ext cx="1573968" cy="16920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E1D8A1-1672-D4B0-BC1D-E4B8BD0CEF07}"/>
                </a:ext>
              </a:extLst>
            </p:cNvPr>
            <p:cNvSpPr/>
            <p:nvPr/>
          </p:nvSpPr>
          <p:spPr>
            <a:xfrm>
              <a:off x="8289758" y="4174958"/>
              <a:ext cx="914400" cy="3128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H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381C2CD-E5C1-4E7A-50F2-2C15C655CF13}"/>
              </a:ext>
            </a:extLst>
          </p:cNvPr>
          <p:cNvSpPr txBox="1"/>
          <p:nvPr/>
        </p:nvSpPr>
        <p:spPr>
          <a:xfrm>
            <a:off x="643278" y="5768474"/>
            <a:ext cx="6816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H" sz="1800" dirty="0"/>
              <a:t>Sample Source Code: </a:t>
            </a:r>
            <a:r>
              <a:rPr lang="en-US" sz="1800" dirty="0">
                <a:hlinkClick r:id="rId3"/>
              </a:rPr>
              <a:t>https://github.com/KimangKhenng/express-separate</a:t>
            </a:r>
            <a:r>
              <a:rPr lang="en-US" sz="1800" dirty="0"/>
              <a:t> </a:t>
            </a:r>
            <a:endParaRPr lang="en-KH" sz="1800" dirty="0"/>
          </a:p>
        </p:txBody>
      </p:sp>
    </p:spTree>
    <p:extLst>
      <p:ext uri="{BB962C8B-B14F-4D97-AF65-F5344CB8AC3E}">
        <p14:creationId xmlns:p14="http://schemas.microsoft.com/office/powerpoint/2010/main" val="3026633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76F5-FD3E-6E05-9647-48C6539C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08F5E3-8907-C9A3-1A1D-73BE6A21B338}"/>
              </a:ext>
            </a:extLst>
          </p:cNvPr>
          <p:cNvSpPr txBox="1"/>
          <p:nvPr/>
        </p:nvSpPr>
        <p:spPr>
          <a:xfrm>
            <a:off x="1285240" y="1050595"/>
            <a:ext cx="8074815" cy="994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Additional Reading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68D2A-C722-03AB-9301-09A619E02C79}"/>
              </a:ext>
            </a:extLst>
          </p:cNvPr>
          <p:cNvSpPr txBox="1"/>
          <p:nvPr/>
        </p:nvSpPr>
        <p:spPr>
          <a:xfrm>
            <a:off x="1285240" y="2472689"/>
            <a:ext cx="8074815" cy="3297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 API Design Guideline: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https://restfulapi.net/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Rest API Design: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https://petstore.swagger.io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863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10AC3-686A-A45E-33D9-FE36EB383E2B}"/>
              </a:ext>
            </a:extLst>
          </p:cNvPr>
          <p:cNvSpPr txBox="1"/>
          <p:nvPr/>
        </p:nvSpPr>
        <p:spPr>
          <a:xfrm>
            <a:off x="1285240" y="1050595"/>
            <a:ext cx="8074815" cy="994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61008-59F4-3781-8A17-5A46504C2D52}"/>
              </a:ext>
            </a:extLst>
          </p:cNvPr>
          <p:cNvSpPr txBox="1"/>
          <p:nvPr/>
        </p:nvSpPr>
        <p:spPr>
          <a:xfrm>
            <a:off x="1285240" y="2844224"/>
            <a:ext cx="95672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Q1: Can I return HTML from a REST API?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/>
              <a:t>Q2: What’s the role of models if I’m not using a database yet?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/>
              <a:t>Q3: How should I name nested resources?</a:t>
            </a:r>
          </a:p>
        </p:txBody>
      </p:sp>
    </p:spTree>
    <p:extLst>
      <p:ext uri="{BB962C8B-B14F-4D97-AF65-F5344CB8AC3E}">
        <p14:creationId xmlns:p14="http://schemas.microsoft.com/office/powerpoint/2010/main" val="59271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9333-C298-72D2-16B8-514EEB80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DD93D-AF64-F614-5768-B77256DE0DBE}"/>
              </a:ext>
            </a:extLst>
          </p:cNvPr>
          <p:cNvSpPr txBox="1"/>
          <p:nvPr/>
        </p:nvSpPr>
        <p:spPr>
          <a:xfrm>
            <a:off x="1285240" y="1050595"/>
            <a:ext cx="8074815" cy="994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Answers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631C43-12B2-616C-4EA2-D6F96E7264CF}"/>
              </a:ext>
            </a:extLst>
          </p:cNvPr>
          <p:cNvSpPr txBox="1"/>
          <p:nvPr/>
        </p:nvSpPr>
        <p:spPr>
          <a:xfrm>
            <a:off x="1285239" y="2639126"/>
            <a:ext cx="104094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A1: </a:t>
            </a:r>
            <a:r>
              <a:rPr lang="en-US" sz="1800" dirty="0"/>
              <a:t>Technically yes, but REST APIs usually return </a:t>
            </a:r>
            <a:r>
              <a:rPr lang="en-US" sz="1800" b="1" dirty="0"/>
              <a:t>JSON</a:t>
            </a:r>
            <a:r>
              <a:rPr lang="en-US" sz="1800" dirty="0"/>
              <a:t>. Returning HTML is more typical in traditional server-rendered web apps.</a:t>
            </a:r>
          </a:p>
          <a:p>
            <a:endParaRPr lang="en-US" sz="1800" dirty="0"/>
          </a:p>
          <a:p>
            <a:br>
              <a:rPr lang="en-US" sz="1800" dirty="0"/>
            </a:br>
            <a:r>
              <a:rPr lang="en-US" sz="1800" b="1" dirty="0"/>
              <a:t>A2: </a:t>
            </a:r>
            <a:r>
              <a:rPr lang="en-US" sz="1800" dirty="0"/>
              <a:t>You can still define mock data or schema structure to simulate interactions and prepare for later DB integration.</a:t>
            </a:r>
          </a:p>
          <a:p>
            <a:endParaRPr lang="en-US" sz="1800" dirty="0"/>
          </a:p>
          <a:p>
            <a:br>
              <a:rPr lang="en-US" sz="1800" dirty="0"/>
            </a:br>
            <a:r>
              <a:rPr lang="en-US" sz="1800" b="1" dirty="0"/>
              <a:t>A3: </a:t>
            </a:r>
            <a:r>
              <a:rPr lang="en-US" sz="1800" dirty="0"/>
              <a:t>Use logical nesting, e.g.:</a:t>
            </a:r>
            <a:br>
              <a:rPr lang="en-US" sz="1800" dirty="0"/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/posts/: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/comments</a:t>
            </a:r>
            <a:br>
              <a:rPr lang="en-US" sz="1800" dirty="0"/>
            </a:br>
            <a:r>
              <a:rPr lang="en-US" sz="1800" dirty="0"/>
              <a:t>This shows that comments belong to a specific post.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5439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1628478" y="1779727"/>
            <a:ext cx="959197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REST principles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clean API routes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Modularize Express apps from top (entry point) to bottom (features)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to build a modular Express server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good REST API design patterns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top-down architecture to Node.js projects</a:t>
            </a:r>
          </a:p>
        </p:txBody>
      </p:sp>
      <p:sp>
        <p:nvSpPr>
          <p:cNvPr id="7" name="Google Shape;98;p2">
            <a:extLst>
              <a:ext uri="{FF2B5EF4-FFF2-40B4-BE49-F238E27FC236}">
                <a16:creationId xmlns:a16="http://schemas.microsoft.com/office/drawing/2014/main" id="{85AE4C1F-805A-4A68-9CBD-E210027ACF7F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99;p2">
            <a:extLst>
              <a:ext uri="{FF2B5EF4-FFF2-40B4-BE49-F238E27FC236}">
                <a16:creationId xmlns:a16="http://schemas.microsoft.com/office/drawing/2014/main" id="{3010E627-DAC4-4FD0-B701-49A0915CFD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;p2">
            <a:extLst>
              <a:ext uri="{FF2B5EF4-FFF2-40B4-BE49-F238E27FC236}">
                <a16:creationId xmlns:a16="http://schemas.microsoft.com/office/drawing/2014/main" id="{E5CF8A0C-D6EC-48E8-8138-915EABBD2F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76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2386</TotalTime>
  <Words>1255</Words>
  <Application>Microsoft Macintosh PowerPoint</Application>
  <PresentationFormat>Widescreen</PresentationFormat>
  <Paragraphs>202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Open Sans</vt:lpstr>
      <vt:lpstr>Source Sans 3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CLEMENT VINOT</dc:creator>
  <cp:lastModifiedBy>KHEANG KIM ANG</cp:lastModifiedBy>
  <cp:revision>154</cp:revision>
  <dcterms:created xsi:type="dcterms:W3CDTF">2021-02-09T07:01:05Z</dcterms:created>
  <dcterms:modified xsi:type="dcterms:W3CDTF">2025-05-19T02:03:43Z</dcterms:modified>
</cp:coreProperties>
</file>