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24B_AD410E29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24C_55FDF8AC.xml" ContentType="application/vnd.ms-powerpoint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omments/modernComment_25A_DE34173.xml" ContentType="application/vnd.ms-powerpoint.comment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566" r:id="rId2"/>
    <p:sldId id="258" r:id="rId3"/>
    <p:sldId id="593" r:id="rId4"/>
    <p:sldId id="594" r:id="rId5"/>
    <p:sldId id="587" r:id="rId6"/>
    <p:sldId id="589" r:id="rId7"/>
    <p:sldId id="595" r:id="rId8"/>
    <p:sldId id="588" r:id="rId9"/>
    <p:sldId id="597" r:id="rId10"/>
    <p:sldId id="598" r:id="rId11"/>
    <p:sldId id="599" r:id="rId12"/>
    <p:sldId id="590" r:id="rId13"/>
    <p:sldId id="591" r:id="rId14"/>
    <p:sldId id="592" r:id="rId15"/>
    <p:sldId id="596" r:id="rId16"/>
    <p:sldId id="600" r:id="rId17"/>
    <p:sldId id="601" r:id="rId18"/>
    <p:sldId id="603" r:id="rId19"/>
    <p:sldId id="602" r:id="rId20"/>
    <p:sldId id="58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Jw+xVc2kc63/xgO2kdtMw8huev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ECA3E6-0A51-3B6D-E00D-F1E4DB20FFEB}" name="KHEANG KIM ANG" initials="" userId="S::kimang.kheang@cadt.edu.kh::c1bc5b59-4c24-4a1d-8390-78078aba674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AA6F"/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0BD0D1-5134-4630-968A-EB55C5758A8E}">
  <a:tblStyle styleId="{EC0BD0D1-5134-4630-968A-EB55C5758A8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6"/>
    <p:restoredTop sz="91578" autoAdjust="0"/>
  </p:normalViewPr>
  <p:slideViewPr>
    <p:cSldViewPr snapToGrid="0">
      <p:cViewPr varScale="1">
        <p:scale>
          <a:sx n="111" d="100"/>
          <a:sy n="111" d="100"/>
        </p:scale>
        <p:origin x="3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an Ogor" userId="473d6ea9-be06-4609-b78d-125cc115ecf4" providerId="ADAL" clId="{8092184E-D424-4CDB-9343-D0E5FA07BA35}"/>
    <pc:docChg chg="modSld">
      <pc:chgData name="Ronan Ogor" userId="473d6ea9-be06-4609-b78d-125cc115ecf4" providerId="ADAL" clId="{8092184E-D424-4CDB-9343-D0E5FA07BA35}" dt="2025-05-03T13:03:33.515" v="2" actId="1076"/>
      <pc:docMkLst>
        <pc:docMk/>
      </pc:docMkLst>
      <pc:sldChg chg="modSp mod">
        <pc:chgData name="Ronan Ogor" userId="473d6ea9-be06-4609-b78d-125cc115ecf4" providerId="ADAL" clId="{8092184E-D424-4CDB-9343-D0E5FA07BA35}" dt="2025-05-03T13:03:33.515" v="2" actId="1076"/>
        <pc:sldMkLst>
          <pc:docMk/>
          <pc:sldMk cId="0" sldId="566"/>
        </pc:sldMkLst>
        <pc:picChg chg="mod">
          <ac:chgData name="Ronan Ogor" userId="473d6ea9-be06-4609-b78d-125cc115ecf4" providerId="ADAL" clId="{8092184E-D424-4CDB-9343-D0E5FA07BA35}" dt="2025-05-03T13:03:33.515" v="2" actId="1076"/>
          <ac:picMkLst>
            <pc:docMk/>
            <pc:sldMk cId="0" sldId="566"/>
            <ac:picMk id="2" creationId="{94225358-26FF-9DCB-20B9-EF0780C476BA}"/>
          </ac:picMkLst>
        </pc:picChg>
        <pc:picChg chg="mod">
          <ac:chgData name="Ronan Ogor" userId="473d6ea9-be06-4609-b78d-125cc115ecf4" providerId="ADAL" clId="{8092184E-D424-4CDB-9343-D0E5FA07BA35}" dt="2025-05-03T13:03:31.996" v="1" actId="14100"/>
          <ac:picMkLst>
            <pc:docMk/>
            <pc:sldMk cId="0" sldId="566"/>
            <ac:picMk id="7" creationId="{C574D5CA-8FA1-45CA-99CB-E92DF91C7D88}"/>
          </ac:picMkLst>
        </pc:picChg>
      </pc:sldChg>
    </pc:docChg>
  </pc:docChgLst>
</pc:chgInfo>
</file>

<file path=ppt/comments/modernComment_24B_AD410E2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4D5D8C5-F7CD-C846-AB73-7052CAD39799}" authorId="{72ECA3E6-0A51-3B6D-E00D-F1E4DB20FFEB}" created="2025-04-24T06:38:14.891">
    <pc:sldMkLst xmlns:pc="http://schemas.microsoft.com/office/powerpoint/2013/main/command">
      <pc:docMk/>
      <pc:sldMk cId="2906721833" sldId="587"/>
    </pc:sldMkLst>
    <p188:replyLst>
      <p188:reply id="{C57D1160-D0BF-D741-83A7-2F2B698CFCE9}" authorId="{72ECA3E6-0A51-3B6D-E00D-F1E4DB20FFEB}" created="2025-04-24T06:39:41.786">
        <p188:txBody>
          <a:bodyPr/>
          <a:lstStyle/>
          <a:p>
            <a:r>
              <a:rPr lang="en-KH"/>
              <a:t>Questions to ask students:
- What happens if we don't call res.end()?
- Why is the callback in listen() useful?
</a:t>
            </a:r>
          </a:p>
        </p188:txBody>
      </p188:reply>
    </p188:replyLst>
    <p188:txBody>
      <a:bodyPr/>
      <a:lstStyle/>
      <a:p>
        <a:r>
          <a:rPr lang="en-KH"/>
          <a:t>Points to explain:
- Entry point for all requests
- req and res objects
- Role of the port
- Node’s default non-blocking behavior
</a:t>
        </a:r>
      </a:p>
    </p188:txBody>
  </p188:cm>
</p188:cmLst>
</file>

<file path=ppt/comments/modernComment_24C_55FDF8A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16E490F-9E0F-F945-8987-764DBDEB19FF}" authorId="{72ECA3E6-0A51-3B6D-E00D-F1E4DB20FFEB}" created="2025-04-24T06:54:34.707">
    <pc:sldMkLst xmlns:pc="http://schemas.microsoft.com/office/powerpoint/2013/main/command">
      <pc:docMk/>
      <pc:sldMk cId="1442707628" sldId="588"/>
    </pc:sldMkLst>
    <p188:txBody>
      <a:bodyPr/>
      <a:lstStyle/>
      <a:p>
        <a:r>
          <a:rPr lang="en-KH"/>
          <a:t>
Explanation:
-Method checking
-URL pattern matching
</a:t>
        </a:r>
      </a:p>
    </p188:txBody>
  </p188:cm>
</p188:cmLst>
</file>

<file path=ppt/comments/modernComment_25A_DE3417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8AD4E49-789A-244A-85D3-EBA6A8E288A7}" authorId="{72ECA3E6-0A51-3B6D-E00D-F1E4DB20FFEB}" created="2025-04-24T08:51:52.534">
    <pc:sldMkLst xmlns:pc="http://schemas.microsoft.com/office/powerpoint/2013/main/command">
      <pc:docMk/>
      <pc:sldMk cId="232997235" sldId="602"/>
    </pc:sldMkLst>
    <p188:txBody>
      <a:bodyPr/>
      <a:lstStyle/>
      <a:p>
        <a:r>
          <a:rPr lang="en-KH"/>
          <a:t>Give them time to do and discuss and give call each group to explain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8FD647-96AD-4CBD-93CE-10ACCAEB943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14A1409-667D-4F7E-9E92-6B30BF88385C}">
      <dgm:prSet/>
      <dgm:spPr/>
      <dgm:t>
        <a:bodyPr/>
        <a:lstStyle/>
        <a:p>
          <a:pPr>
            <a:defRPr b="1"/>
          </a:pPr>
          <a:r>
            <a:rPr lang="en-US" b="0" i="0"/>
            <a:t>Think of req as </a:t>
          </a:r>
          <a:r>
            <a:rPr lang="en-US" b="1" i="0"/>
            <a:t>a letter someone mails to you</a:t>
          </a:r>
          <a:r>
            <a:rPr lang="en-US" b="0" i="0"/>
            <a:t>, with:</a:t>
          </a:r>
          <a:endParaRPr lang="en-US"/>
        </a:p>
      </dgm:t>
    </dgm:pt>
    <dgm:pt modelId="{A2A7FE2B-D25B-45BB-884B-35A00C2A38B9}" type="parTrans" cxnId="{76197C5C-CFC2-4040-948E-9E868B503F03}">
      <dgm:prSet/>
      <dgm:spPr/>
      <dgm:t>
        <a:bodyPr/>
        <a:lstStyle/>
        <a:p>
          <a:endParaRPr lang="en-US"/>
        </a:p>
      </dgm:t>
    </dgm:pt>
    <dgm:pt modelId="{8B7676AD-5C47-45AA-8565-CE841FF4D8EB}" type="sibTrans" cxnId="{76197C5C-CFC2-4040-948E-9E868B503F03}">
      <dgm:prSet/>
      <dgm:spPr/>
      <dgm:t>
        <a:bodyPr/>
        <a:lstStyle/>
        <a:p>
          <a:endParaRPr lang="en-US"/>
        </a:p>
      </dgm:t>
    </dgm:pt>
    <dgm:pt modelId="{BB31F03D-0EDE-418A-84B0-A4184B1EE008}">
      <dgm:prSet/>
      <dgm:spPr/>
      <dgm:t>
        <a:bodyPr/>
        <a:lstStyle/>
        <a:p>
          <a:r>
            <a:rPr lang="en-US" b="0" i="0"/>
            <a:t>Their name, message (body), metadata (headers), and return address.</a:t>
          </a:r>
          <a:endParaRPr lang="en-US"/>
        </a:p>
      </dgm:t>
    </dgm:pt>
    <dgm:pt modelId="{6CC0FE61-83B5-48BA-AA8D-85DD9C584F98}" type="parTrans" cxnId="{DC5CDFF0-18E3-44AC-A43B-3E4AC04C7799}">
      <dgm:prSet/>
      <dgm:spPr/>
      <dgm:t>
        <a:bodyPr/>
        <a:lstStyle/>
        <a:p>
          <a:endParaRPr lang="en-US"/>
        </a:p>
      </dgm:t>
    </dgm:pt>
    <dgm:pt modelId="{8B4EF34B-099F-40CE-9657-C6987E52097A}" type="sibTrans" cxnId="{DC5CDFF0-18E3-44AC-A43B-3E4AC04C7799}">
      <dgm:prSet/>
      <dgm:spPr/>
      <dgm:t>
        <a:bodyPr/>
        <a:lstStyle/>
        <a:p>
          <a:endParaRPr lang="en-US"/>
        </a:p>
      </dgm:t>
    </dgm:pt>
    <dgm:pt modelId="{8B57D870-EB17-4D12-BB00-51F6E306EA7F}">
      <dgm:prSet/>
      <dgm:spPr/>
      <dgm:t>
        <a:bodyPr/>
        <a:lstStyle/>
        <a:p>
          <a:pPr>
            <a:defRPr b="1"/>
          </a:pPr>
          <a:r>
            <a:rPr lang="en-US" b="0" i="0"/>
            <a:t>res is </a:t>
          </a:r>
          <a:r>
            <a:rPr lang="en-US" b="1" i="0"/>
            <a:t>your reply letter</a:t>
          </a:r>
          <a:r>
            <a:rPr lang="en-US" b="0" i="0"/>
            <a:t>, where:</a:t>
          </a:r>
          <a:endParaRPr lang="en-US"/>
        </a:p>
      </dgm:t>
    </dgm:pt>
    <dgm:pt modelId="{85FC2513-7498-4530-82F7-7BF6FD651EA1}" type="parTrans" cxnId="{F42F4ED7-3EBE-4669-9377-B07BC8078B32}">
      <dgm:prSet/>
      <dgm:spPr/>
      <dgm:t>
        <a:bodyPr/>
        <a:lstStyle/>
        <a:p>
          <a:endParaRPr lang="en-US"/>
        </a:p>
      </dgm:t>
    </dgm:pt>
    <dgm:pt modelId="{C265B0DD-F073-4F89-A227-35DCD98281E9}" type="sibTrans" cxnId="{F42F4ED7-3EBE-4669-9377-B07BC8078B32}">
      <dgm:prSet/>
      <dgm:spPr/>
      <dgm:t>
        <a:bodyPr/>
        <a:lstStyle/>
        <a:p>
          <a:endParaRPr lang="en-US"/>
        </a:p>
      </dgm:t>
    </dgm:pt>
    <dgm:pt modelId="{4B532E7F-5560-4414-B48B-523C024A74EA}">
      <dgm:prSet/>
      <dgm:spPr/>
      <dgm:t>
        <a:bodyPr/>
        <a:lstStyle/>
        <a:p>
          <a:r>
            <a:rPr lang="en-US" b="0" i="0"/>
            <a:t>You choose what to send back, what tone (status code), and how it’s packaged (headers).</a:t>
          </a:r>
          <a:endParaRPr lang="en-US"/>
        </a:p>
      </dgm:t>
    </dgm:pt>
    <dgm:pt modelId="{1C74F868-5251-4333-80BA-A3BB9B4D4AEA}" type="parTrans" cxnId="{1252EBE9-CB63-4E3E-816A-40A1EE364BCA}">
      <dgm:prSet/>
      <dgm:spPr/>
      <dgm:t>
        <a:bodyPr/>
        <a:lstStyle/>
        <a:p>
          <a:endParaRPr lang="en-US"/>
        </a:p>
      </dgm:t>
    </dgm:pt>
    <dgm:pt modelId="{5B7E5F88-A815-4E51-BFBE-C57B04AE85B9}" type="sibTrans" cxnId="{1252EBE9-CB63-4E3E-816A-40A1EE364BCA}">
      <dgm:prSet/>
      <dgm:spPr/>
      <dgm:t>
        <a:bodyPr/>
        <a:lstStyle/>
        <a:p>
          <a:endParaRPr lang="en-US"/>
        </a:p>
      </dgm:t>
    </dgm:pt>
    <dgm:pt modelId="{06410B26-AE65-4B3A-9058-6C872F07CE6E}" type="pres">
      <dgm:prSet presAssocID="{048FD647-96AD-4CBD-93CE-10ACCAEB9432}" presName="root" presStyleCnt="0">
        <dgm:presLayoutVars>
          <dgm:dir/>
          <dgm:resizeHandles val="exact"/>
        </dgm:presLayoutVars>
      </dgm:prSet>
      <dgm:spPr/>
    </dgm:pt>
    <dgm:pt modelId="{DDB21A4E-6C13-454E-B110-44AE574A1721}" type="pres">
      <dgm:prSet presAssocID="{114A1409-667D-4F7E-9E92-6B30BF88385C}" presName="compNode" presStyleCnt="0"/>
      <dgm:spPr/>
    </dgm:pt>
    <dgm:pt modelId="{637CD70F-4071-4521-8B06-10A2FFE7FF36}" type="pres">
      <dgm:prSet presAssocID="{114A1409-667D-4F7E-9E92-6B30BF88385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116C87C3-8D31-43A1-937B-459BEC7751F9}" type="pres">
      <dgm:prSet presAssocID="{114A1409-667D-4F7E-9E92-6B30BF88385C}" presName="iconSpace" presStyleCnt="0"/>
      <dgm:spPr/>
    </dgm:pt>
    <dgm:pt modelId="{0850CD52-D088-40B3-A0BA-6E0A15EE6588}" type="pres">
      <dgm:prSet presAssocID="{114A1409-667D-4F7E-9E92-6B30BF88385C}" presName="parTx" presStyleLbl="revTx" presStyleIdx="0" presStyleCnt="4">
        <dgm:presLayoutVars>
          <dgm:chMax val="0"/>
          <dgm:chPref val="0"/>
        </dgm:presLayoutVars>
      </dgm:prSet>
      <dgm:spPr/>
    </dgm:pt>
    <dgm:pt modelId="{206426A0-8AFD-4368-B11E-42C09511F976}" type="pres">
      <dgm:prSet presAssocID="{114A1409-667D-4F7E-9E92-6B30BF88385C}" presName="txSpace" presStyleCnt="0"/>
      <dgm:spPr/>
    </dgm:pt>
    <dgm:pt modelId="{3B427C34-E2FE-440F-9240-EB1747CEE45F}" type="pres">
      <dgm:prSet presAssocID="{114A1409-667D-4F7E-9E92-6B30BF88385C}" presName="desTx" presStyleLbl="revTx" presStyleIdx="1" presStyleCnt="4">
        <dgm:presLayoutVars/>
      </dgm:prSet>
      <dgm:spPr/>
    </dgm:pt>
    <dgm:pt modelId="{C7B94608-04CA-48A0-8C07-06F6A126E19E}" type="pres">
      <dgm:prSet presAssocID="{8B7676AD-5C47-45AA-8565-CE841FF4D8EB}" presName="sibTrans" presStyleCnt="0"/>
      <dgm:spPr/>
    </dgm:pt>
    <dgm:pt modelId="{A4978D87-93F3-40F4-8451-3F5FE61D8E33}" type="pres">
      <dgm:prSet presAssocID="{8B57D870-EB17-4D12-BB00-51F6E306EA7F}" presName="compNode" presStyleCnt="0"/>
      <dgm:spPr/>
    </dgm:pt>
    <dgm:pt modelId="{3384EEF1-2C46-4B8D-AC0C-08B14E79BD5A}" type="pres">
      <dgm:prSet presAssocID="{8B57D870-EB17-4D12-BB00-51F6E306EA7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2CBC0864-40C4-4A86-B51F-72BDF2F78EE4}" type="pres">
      <dgm:prSet presAssocID="{8B57D870-EB17-4D12-BB00-51F6E306EA7F}" presName="iconSpace" presStyleCnt="0"/>
      <dgm:spPr/>
    </dgm:pt>
    <dgm:pt modelId="{81B8C6D4-459F-43C5-8D16-9C82D7F91CE0}" type="pres">
      <dgm:prSet presAssocID="{8B57D870-EB17-4D12-BB00-51F6E306EA7F}" presName="parTx" presStyleLbl="revTx" presStyleIdx="2" presStyleCnt="4">
        <dgm:presLayoutVars>
          <dgm:chMax val="0"/>
          <dgm:chPref val="0"/>
        </dgm:presLayoutVars>
      </dgm:prSet>
      <dgm:spPr/>
    </dgm:pt>
    <dgm:pt modelId="{C414DAE6-BAB3-4DC9-9E16-DF7505F332E1}" type="pres">
      <dgm:prSet presAssocID="{8B57D870-EB17-4D12-BB00-51F6E306EA7F}" presName="txSpace" presStyleCnt="0"/>
      <dgm:spPr/>
    </dgm:pt>
    <dgm:pt modelId="{716F074A-F77C-4845-8EF7-3C4F3C67262D}" type="pres">
      <dgm:prSet presAssocID="{8B57D870-EB17-4D12-BB00-51F6E306EA7F}" presName="desTx" presStyleLbl="revTx" presStyleIdx="3" presStyleCnt="4">
        <dgm:presLayoutVars/>
      </dgm:prSet>
      <dgm:spPr/>
    </dgm:pt>
  </dgm:ptLst>
  <dgm:cxnLst>
    <dgm:cxn modelId="{12FAA92D-99CC-4905-BA22-860223167666}" type="presOf" srcId="{4B532E7F-5560-4414-B48B-523C024A74EA}" destId="{716F074A-F77C-4845-8EF7-3C4F3C67262D}" srcOrd="0" destOrd="0" presId="urn:microsoft.com/office/officeart/2018/2/layout/IconLabelDescriptionList"/>
    <dgm:cxn modelId="{76197C5C-CFC2-4040-948E-9E868B503F03}" srcId="{048FD647-96AD-4CBD-93CE-10ACCAEB9432}" destId="{114A1409-667D-4F7E-9E92-6B30BF88385C}" srcOrd="0" destOrd="0" parTransId="{A2A7FE2B-D25B-45BB-884B-35A00C2A38B9}" sibTransId="{8B7676AD-5C47-45AA-8565-CE841FF4D8EB}"/>
    <dgm:cxn modelId="{7830E159-C233-407A-B747-9B3F394D65F6}" type="presOf" srcId="{048FD647-96AD-4CBD-93CE-10ACCAEB9432}" destId="{06410B26-AE65-4B3A-9058-6C872F07CE6E}" srcOrd="0" destOrd="0" presId="urn:microsoft.com/office/officeart/2018/2/layout/IconLabelDescriptionList"/>
    <dgm:cxn modelId="{51760B8A-AB9E-49B2-A9DE-3D41753283B1}" type="presOf" srcId="{8B57D870-EB17-4D12-BB00-51F6E306EA7F}" destId="{81B8C6D4-459F-43C5-8D16-9C82D7F91CE0}" srcOrd="0" destOrd="0" presId="urn:microsoft.com/office/officeart/2018/2/layout/IconLabelDescriptionList"/>
    <dgm:cxn modelId="{4C7D14A6-A4E6-47E6-9B9C-05C794193FBC}" type="presOf" srcId="{BB31F03D-0EDE-418A-84B0-A4184B1EE008}" destId="{3B427C34-E2FE-440F-9240-EB1747CEE45F}" srcOrd="0" destOrd="0" presId="urn:microsoft.com/office/officeart/2018/2/layout/IconLabelDescriptionList"/>
    <dgm:cxn modelId="{F42F4ED7-3EBE-4669-9377-B07BC8078B32}" srcId="{048FD647-96AD-4CBD-93CE-10ACCAEB9432}" destId="{8B57D870-EB17-4D12-BB00-51F6E306EA7F}" srcOrd="1" destOrd="0" parTransId="{85FC2513-7498-4530-82F7-7BF6FD651EA1}" sibTransId="{C265B0DD-F073-4F89-A227-35DCD98281E9}"/>
    <dgm:cxn modelId="{1252EBE9-CB63-4E3E-816A-40A1EE364BCA}" srcId="{8B57D870-EB17-4D12-BB00-51F6E306EA7F}" destId="{4B532E7F-5560-4414-B48B-523C024A74EA}" srcOrd="0" destOrd="0" parTransId="{1C74F868-5251-4333-80BA-A3BB9B4D4AEA}" sibTransId="{5B7E5F88-A815-4E51-BFBE-C57B04AE85B9}"/>
    <dgm:cxn modelId="{DC5CDFF0-18E3-44AC-A43B-3E4AC04C7799}" srcId="{114A1409-667D-4F7E-9E92-6B30BF88385C}" destId="{BB31F03D-0EDE-418A-84B0-A4184B1EE008}" srcOrd="0" destOrd="0" parTransId="{6CC0FE61-83B5-48BA-AA8D-85DD9C584F98}" sibTransId="{8B4EF34B-099F-40CE-9657-C6987E52097A}"/>
    <dgm:cxn modelId="{2BAAB7FB-5ECE-43B1-83D7-EB759C34DF8A}" type="presOf" srcId="{114A1409-667D-4F7E-9E92-6B30BF88385C}" destId="{0850CD52-D088-40B3-A0BA-6E0A15EE6588}" srcOrd="0" destOrd="0" presId="urn:microsoft.com/office/officeart/2018/2/layout/IconLabelDescriptionList"/>
    <dgm:cxn modelId="{8B06ADC6-FB30-4BD1-8589-87320E3BD5FA}" type="presParOf" srcId="{06410B26-AE65-4B3A-9058-6C872F07CE6E}" destId="{DDB21A4E-6C13-454E-B110-44AE574A1721}" srcOrd="0" destOrd="0" presId="urn:microsoft.com/office/officeart/2018/2/layout/IconLabelDescriptionList"/>
    <dgm:cxn modelId="{00ABFA2E-F6F5-4C2F-9FB5-89FFFA5B9E4E}" type="presParOf" srcId="{DDB21A4E-6C13-454E-B110-44AE574A1721}" destId="{637CD70F-4071-4521-8B06-10A2FFE7FF36}" srcOrd="0" destOrd="0" presId="urn:microsoft.com/office/officeart/2018/2/layout/IconLabelDescriptionList"/>
    <dgm:cxn modelId="{164155A9-803A-4B93-8289-79D85FD95684}" type="presParOf" srcId="{DDB21A4E-6C13-454E-B110-44AE574A1721}" destId="{116C87C3-8D31-43A1-937B-459BEC7751F9}" srcOrd="1" destOrd="0" presId="urn:microsoft.com/office/officeart/2018/2/layout/IconLabelDescriptionList"/>
    <dgm:cxn modelId="{318C45AE-54C0-4931-A80F-EC80387C404C}" type="presParOf" srcId="{DDB21A4E-6C13-454E-B110-44AE574A1721}" destId="{0850CD52-D088-40B3-A0BA-6E0A15EE6588}" srcOrd="2" destOrd="0" presId="urn:microsoft.com/office/officeart/2018/2/layout/IconLabelDescriptionList"/>
    <dgm:cxn modelId="{2AC0654B-13E4-40A1-A5C9-8E4894A4542F}" type="presParOf" srcId="{DDB21A4E-6C13-454E-B110-44AE574A1721}" destId="{206426A0-8AFD-4368-B11E-42C09511F976}" srcOrd="3" destOrd="0" presId="urn:microsoft.com/office/officeart/2018/2/layout/IconLabelDescriptionList"/>
    <dgm:cxn modelId="{E20BAB4C-8D7F-45C2-AC35-D0464FA0DBA5}" type="presParOf" srcId="{DDB21A4E-6C13-454E-B110-44AE574A1721}" destId="{3B427C34-E2FE-440F-9240-EB1747CEE45F}" srcOrd="4" destOrd="0" presId="urn:microsoft.com/office/officeart/2018/2/layout/IconLabelDescriptionList"/>
    <dgm:cxn modelId="{498EEB23-815C-40F7-AEB9-29F0F9E2FCB6}" type="presParOf" srcId="{06410B26-AE65-4B3A-9058-6C872F07CE6E}" destId="{C7B94608-04CA-48A0-8C07-06F6A126E19E}" srcOrd="1" destOrd="0" presId="urn:microsoft.com/office/officeart/2018/2/layout/IconLabelDescriptionList"/>
    <dgm:cxn modelId="{31F5B00A-B2BA-43FE-A8ED-FB6C968C47FD}" type="presParOf" srcId="{06410B26-AE65-4B3A-9058-6C872F07CE6E}" destId="{A4978D87-93F3-40F4-8451-3F5FE61D8E33}" srcOrd="2" destOrd="0" presId="urn:microsoft.com/office/officeart/2018/2/layout/IconLabelDescriptionList"/>
    <dgm:cxn modelId="{17ABD0CA-FF4A-4C0A-9F7C-2E970B12FF0F}" type="presParOf" srcId="{A4978D87-93F3-40F4-8451-3F5FE61D8E33}" destId="{3384EEF1-2C46-4B8D-AC0C-08B14E79BD5A}" srcOrd="0" destOrd="0" presId="urn:microsoft.com/office/officeart/2018/2/layout/IconLabelDescriptionList"/>
    <dgm:cxn modelId="{F8F70DB7-2B06-42B2-AE9E-79654D6ED146}" type="presParOf" srcId="{A4978D87-93F3-40F4-8451-3F5FE61D8E33}" destId="{2CBC0864-40C4-4A86-B51F-72BDF2F78EE4}" srcOrd="1" destOrd="0" presId="urn:microsoft.com/office/officeart/2018/2/layout/IconLabelDescriptionList"/>
    <dgm:cxn modelId="{98224C61-DECF-42D2-A7B0-648BCA091918}" type="presParOf" srcId="{A4978D87-93F3-40F4-8451-3F5FE61D8E33}" destId="{81B8C6D4-459F-43C5-8D16-9C82D7F91CE0}" srcOrd="2" destOrd="0" presId="urn:microsoft.com/office/officeart/2018/2/layout/IconLabelDescriptionList"/>
    <dgm:cxn modelId="{4BEFE1F6-C501-4824-A6AC-D9CB441765BE}" type="presParOf" srcId="{A4978D87-93F3-40F4-8451-3F5FE61D8E33}" destId="{C414DAE6-BAB3-4DC9-9E16-DF7505F332E1}" srcOrd="3" destOrd="0" presId="urn:microsoft.com/office/officeart/2018/2/layout/IconLabelDescriptionList"/>
    <dgm:cxn modelId="{98B76C06-1EFD-419F-B8CD-82659701C5B3}" type="presParOf" srcId="{A4978D87-93F3-40F4-8451-3F5FE61D8E33}" destId="{716F074A-F77C-4845-8EF7-3C4F3C67262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E0EAE7-419A-47D7-A0CD-310D3B562568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8CF1074-608C-4A16-8510-F7549157AD48}">
      <dgm:prSet/>
      <dgm:spPr/>
      <dgm:t>
        <a:bodyPr/>
        <a:lstStyle/>
        <a:p>
          <a:r>
            <a:rPr lang="en-US" b="0" i="0"/>
            <a:t>Routing means deciding </a:t>
          </a:r>
          <a:r>
            <a:rPr lang="en-US" b="1" i="0"/>
            <a:t>what code to run</a:t>
          </a:r>
          <a:r>
            <a:rPr lang="en-US" b="0" i="0"/>
            <a:t> based on:</a:t>
          </a:r>
          <a:endParaRPr lang="en-US"/>
        </a:p>
      </dgm:t>
    </dgm:pt>
    <dgm:pt modelId="{B76B423D-6C0F-439F-A4F5-DD74F45EF4F4}" type="parTrans" cxnId="{21299D7C-78C9-44FC-841E-CFDBBFF94A62}">
      <dgm:prSet/>
      <dgm:spPr/>
      <dgm:t>
        <a:bodyPr/>
        <a:lstStyle/>
        <a:p>
          <a:endParaRPr lang="en-US"/>
        </a:p>
      </dgm:t>
    </dgm:pt>
    <dgm:pt modelId="{201282B0-B353-440F-BF05-91C84D3DEFAD}" type="sibTrans" cxnId="{21299D7C-78C9-44FC-841E-CFDBBFF94A62}">
      <dgm:prSet/>
      <dgm:spPr/>
      <dgm:t>
        <a:bodyPr/>
        <a:lstStyle/>
        <a:p>
          <a:endParaRPr lang="en-US"/>
        </a:p>
      </dgm:t>
    </dgm:pt>
    <dgm:pt modelId="{D4B5D1EF-69E3-47C6-94DE-642E7580D679}">
      <dgm:prSet/>
      <dgm:spPr/>
      <dgm:t>
        <a:bodyPr/>
        <a:lstStyle/>
        <a:p>
          <a:r>
            <a:rPr lang="en-US" b="0" i="0"/>
            <a:t>HTTP Method: GET, POST, PUT, DELETE, etc.</a:t>
          </a:r>
          <a:endParaRPr lang="en-US"/>
        </a:p>
      </dgm:t>
    </dgm:pt>
    <dgm:pt modelId="{5ADC8948-ADF9-4F42-A352-76EC4AA13D8B}" type="parTrans" cxnId="{6182D0FB-0F7C-44C8-AB47-78C3D3505CAE}">
      <dgm:prSet/>
      <dgm:spPr/>
      <dgm:t>
        <a:bodyPr/>
        <a:lstStyle/>
        <a:p>
          <a:endParaRPr lang="en-US"/>
        </a:p>
      </dgm:t>
    </dgm:pt>
    <dgm:pt modelId="{F73229C5-8521-4C54-8D9E-222DF3BDBA24}" type="sibTrans" cxnId="{6182D0FB-0F7C-44C8-AB47-78C3D3505CAE}">
      <dgm:prSet/>
      <dgm:spPr/>
      <dgm:t>
        <a:bodyPr/>
        <a:lstStyle/>
        <a:p>
          <a:endParaRPr lang="en-US"/>
        </a:p>
      </dgm:t>
    </dgm:pt>
    <dgm:pt modelId="{7E9D1BBA-22DF-43E2-AC02-9A5878A46A1D}">
      <dgm:prSet/>
      <dgm:spPr/>
      <dgm:t>
        <a:bodyPr/>
        <a:lstStyle/>
        <a:p>
          <a:r>
            <a:rPr lang="en-US" b="0" i="0"/>
            <a:t>URL Path: /, /about, /api/user, etc.</a:t>
          </a:r>
          <a:endParaRPr lang="en-US"/>
        </a:p>
      </dgm:t>
    </dgm:pt>
    <dgm:pt modelId="{1C3AABA6-B442-47E3-A691-C19333A05137}" type="parTrans" cxnId="{5024E239-66EB-40CE-8F46-6EB3C2C844E7}">
      <dgm:prSet/>
      <dgm:spPr/>
      <dgm:t>
        <a:bodyPr/>
        <a:lstStyle/>
        <a:p>
          <a:endParaRPr lang="en-US"/>
        </a:p>
      </dgm:t>
    </dgm:pt>
    <dgm:pt modelId="{C829DDFE-D612-4E5A-9B33-EA3E88BA2FBF}" type="sibTrans" cxnId="{5024E239-66EB-40CE-8F46-6EB3C2C844E7}">
      <dgm:prSet/>
      <dgm:spPr/>
      <dgm:t>
        <a:bodyPr/>
        <a:lstStyle/>
        <a:p>
          <a:endParaRPr lang="en-US"/>
        </a:p>
      </dgm:t>
    </dgm:pt>
    <dgm:pt modelId="{E2316C21-9E2C-D842-8A1B-69773A4B2B90}" type="pres">
      <dgm:prSet presAssocID="{B2E0EAE7-419A-47D7-A0CD-310D3B562568}" presName="Name0" presStyleCnt="0">
        <dgm:presLayoutVars>
          <dgm:dir/>
          <dgm:animLvl val="lvl"/>
          <dgm:resizeHandles val="exact"/>
        </dgm:presLayoutVars>
      </dgm:prSet>
      <dgm:spPr/>
    </dgm:pt>
    <dgm:pt modelId="{AF2690AF-43F6-704D-8D6D-C9EE4D06E06F}" type="pres">
      <dgm:prSet presAssocID="{7E9D1BBA-22DF-43E2-AC02-9A5878A46A1D}" presName="boxAndChildren" presStyleCnt="0"/>
      <dgm:spPr/>
    </dgm:pt>
    <dgm:pt modelId="{EFF2E171-505C-8C47-8ADE-6C9C8934DE97}" type="pres">
      <dgm:prSet presAssocID="{7E9D1BBA-22DF-43E2-AC02-9A5878A46A1D}" presName="parentTextBox" presStyleLbl="node1" presStyleIdx="0" presStyleCnt="3"/>
      <dgm:spPr/>
    </dgm:pt>
    <dgm:pt modelId="{1C5D6A02-4504-324D-999F-5BE731016BEC}" type="pres">
      <dgm:prSet presAssocID="{F73229C5-8521-4C54-8D9E-222DF3BDBA24}" presName="sp" presStyleCnt="0"/>
      <dgm:spPr/>
    </dgm:pt>
    <dgm:pt modelId="{A39239EF-C99B-814E-B910-871471569005}" type="pres">
      <dgm:prSet presAssocID="{D4B5D1EF-69E3-47C6-94DE-642E7580D679}" presName="arrowAndChildren" presStyleCnt="0"/>
      <dgm:spPr/>
    </dgm:pt>
    <dgm:pt modelId="{1B8E4B7E-3C47-D340-8935-C317F3C22D96}" type="pres">
      <dgm:prSet presAssocID="{D4B5D1EF-69E3-47C6-94DE-642E7580D679}" presName="parentTextArrow" presStyleLbl="node1" presStyleIdx="1" presStyleCnt="3"/>
      <dgm:spPr/>
    </dgm:pt>
    <dgm:pt modelId="{3DC2E901-5D35-C348-A34F-8A401749AB8C}" type="pres">
      <dgm:prSet presAssocID="{201282B0-B353-440F-BF05-91C84D3DEFAD}" presName="sp" presStyleCnt="0"/>
      <dgm:spPr/>
    </dgm:pt>
    <dgm:pt modelId="{C40F2F2E-3F83-EC44-B299-95054E40EC3C}" type="pres">
      <dgm:prSet presAssocID="{98CF1074-608C-4A16-8510-F7549157AD48}" presName="arrowAndChildren" presStyleCnt="0"/>
      <dgm:spPr/>
    </dgm:pt>
    <dgm:pt modelId="{83A10627-4450-8F4B-9392-85AD825A4038}" type="pres">
      <dgm:prSet presAssocID="{98CF1074-608C-4A16-8510-F7549157AD48}" presName="parentTextArrow" presStyleLbl="node1" presStyleIdx="2" presStyleCnt="3"/>
      <dgm:spPr/>
    </dgm:pt>
  </dgm:ptLst>
  <dgm:cxnLst>
    <dgm:cxn modelId="{19490E26-F72D-2645-A941-F3C905F6A6E8}" type="presOf" srcId="{98CF1074-608C-4A16-8510-F7549157AD48}" destId="{83A10627-4450-8F4B-9392-85AD825A4038}" srcOrd="0" destOrd="0" presId="urn:microsoft.com/office/officeart/2005/8/layout/process4"/>
    <dgm:cxn modelId="{5024E239-66EB-40CE-8F46-6EB3C2C844E7}" srcId="{B2E0EAE7-419A-47D7-A0CD-310D3B562568}" destId="{7E9D1BBA-22DF-43E2-AC02-9A5878A46A1D}" srcOrd="2" destOrd="0" parTransId="{1C3AABA6-B442-47E3-A691-C19333A05137}" sibTransId="{C829DDFE-D612-4E5A-9B33-EA3E88BA2FBF}"/>
    <dgm:cxn modelId="{21299D7C-78C9-44FC-841E-CFDBBFF94A62}" srcId="{B2E0EAE7-419A-47D7-A0CD-310D3B562568}" destId="{98CF1074-608C-4A16-8510-F7549157AD48}" srcOrd="0" destOrd="0" parTransId="{B76B423D-6C0F-439F-A4F5-DD74F45EF4F4}" sibTransId="{201282B0-B353-440F-BF05-91C84D3DEFAD}"/>
    <dgm:cxn modelId="{8D14F19E-C377-FA47-938C-2B228E1C3152}" type="presOf" srcId="{7E9D1BBA-22DF-43E2-AC02-9A5878A46A1D}" destId="{EFF2E171-505C-8C47-8ADE-6C9C8934DE97}" srcOrd="0" destOrd="0" presId="urn:microsoft.com/office/officeart/2005/8/layout/process4"/>
    <dgm:cxn modelId="{46B62FBE-2DD0-0A49-9A2E-6854E23643CA}" type="presOf" srcId="{D4B5D1EF-69E3-47C6-94DE-642E7580D679}" destId="{1B8E4B7E-3C47-D340-8935-C317F3C22D96}" srcOrd="0" destOrd="0" presId="urn:microsoft.com/office/officeart/2005/8/layout/process4"/>
    <dgm:cxn modelId="{7C40E5E2-BD3D-6240-B386-7FAA8A1095C0}" type="presOf" srcId="{B2E0EAE7-419A-47D7-A0CD-310D3B562568}" destId="{E2316C21-9E2C-D842-8A1B-69773A4B2B90}" srcOrd="0" destOrd="0" presId="urn:microsoft.com/office/officeart/2005/8/layout/process4"/>
    <dgm:cxn modelId="{6182D0FB-0F7C-44C8-AB47-78C3D3505CAE}" srcId="{B2E0EAE7-419A-47D7-A0CD-310D3B562568}" destId="{D4B5D1EF-69E3-47C6-94DE-642E7580D679}" srcOrd="1" destOrd="0" parTransId="{5ADC8948-ADF9-4F42-A352-76EC4AA13D8B}" sibTransId="{F73229C5-8521-4C54-8D9E-222DF3BDBA24}"/>
    <dgm:cxn modelId="{3AADAD50-497D-6640-8126-348BAFE8EEEB}" type="presParOf" srcId="{E2316C21-9E2C-D842-8A1B-69773A4B2B90}" destId="{AF2690AF-43F6-704D-8D6D-C9EE4D06E06F}" srcOrd="0" destOrd="0" presId="urn:microsoft.com/office/officeart/2005/8/layout/process4"/>
    <dgm:cxn modelId="{7D5A07AC-C7A3-2C4D-AB75-9EB6242C969F}" type="presParOf" srcId="{AF2690AF-43F6-704D-8D6D-C9EE4D06E06F}" destId="{EFF2E171-505C-8C47-8ADE-6C9C8934DE97}" srcOrd="0" destOrd="0" presId="urn:microsoft.com/office/officeart/2005/8/layout/process4"/>
    <dgm:cxn modelId="{6177DFEC-C336-7A4F-B3AB-F1A9A7F344E1}" type="presParOf" srcId="{E2316C21-9E2C-D842-8A1B-69773A4B2B90}" destId="{1C5D6A02-4504-324D-999F-5BE731016BEC}" srcOrd="1" destOrd="0" presId="urn:microsoft.com/office/officeart/2005/8/layout/process4"/>
    <dgm:cxn modelId="{E4E53F49-5FEA-BB45-9EEC-7EF45B658394}" type="presParOf" srcId="{E2316C21-9E2C-D842-8A1B-69773A4B2B90}" destId="{A39239EF-C99B-814E-B910-871471569005}" srcOrd="2" destOrd="0" presId="urn:microsoft.com/office/officeart/2005/8/layout/process4"/>
    <dgm:cxn modelId="{D6CD35EA-79FD-CA45-8816-04CA8E6C4F76}" type="presParOf" srcId="{A39239EF-C99B-814E-B910-871471569005}" destId="{1B8E4B7E-3C47-D340-8935-C317F3C22D96}" srcOrd="0" destOrd="0" presId="urn:microsoft.com/office/officeart/2005/8/layout/process4"/>
    <dgm:cxn modelId="{3A07EA14-B317-E340-8119-6555FF5F498E}" type="presParOf" srcId="{E2316C21-9E2C-D842-8A1B-69773A4B2B90}" destId="{3DC2E901-5D35-C348-A34F-8A401749AB8C}" srcOrd="3" destOrd="0" presId="urn:microsoft.com/office/officeart/2005/8/layout/process4"/>
    <dgm:cxn modelId="{12CE17BE-0354-7A49-9C21-C633D354A40E}" type="presParOf" srcId="{E2316C21-9E2C-D842-8A1B-69773A4B2B90}" destId="{C40F2F2E-3F83-EC44-B299-95054E40EC3C}" srcOrd="4" destOrd="0" presId="urn:microsoft.com/office/officeart/2005/8/layout/process4"/>
    <dgm:cxn modelId="{E49FF427-8917-0646-80F4-0C028D78D360}" type="presParOf" srcId="{C40F2F2E-3F83-EC44-B299-95054E40EC3C}" destId="{83A10627-4450-8F4B-9392-85AD825A403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7CD70F-4071-4521-8B06-10A2FFE7FF36}">
      <dsp:nvSpPr>
        <dsp:cNvPr id="0" name=""/>
        <dsp:cNvSpPr/>
      </dsp:nvSpPr>
      <dsp:spPr>
        <a:xfrm>
          <a:off x="765914" y="58415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50CD52-D088-40B3-A0BA-6E0A15EE6588}">
      <dsp:nvSpPr>
        <dsp:cNvPr id="0" name=""/>
        <dsp:cNvSpPr/>
      </dsp:nvSpPr>
      <dsp:spPr>
        <a:xfrm>
          <a:off x="765914" y="222621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0" i="0" kern="1200"/>
            <a:t>Think of req as </a:t>
          </a:r>
          <a:r>
            <a:rPr lang="en-US" sz="2400" b="1" i="0" kern="1200"/>
            <a:t>a letter someone mails to you</a:t>
          </a:r>
          <a:r>
            <a:rPr lang="en-US" sz="2400" b="0" i="0" kern="1200"/>
            <a:t>, with:</a:t>
          </a:r>
          <a:endParaRPr lang="en-US" sz="2400" kern="1200"/>
        </a:p>
      </dsp:txBody>
      <dsp:txXfrm>
        <a:off x="765914" y="2226212"/>
        <a:ext cx="4320000" cy="648000"/>
      </dsp:txXfrm>
    </dsp:sp>
    <dsp:sp modelId="{3B427C34-E2FE-440F-9240-EB1747CEE45F}">
      <dsp:nvSpPr>
        <dsp:cNvPr id="0" name=""/>
        <dsp:cNvSpPr/>
      </dsp:nvSpPr>
      <dsp:spPr>
        <a:xfrm>
          <a:off x="765914" y="2934701"/>
          <a:ext cx="4320000" cy="673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Their name, message (body), metadata (headers), and return address.</a:t>
          </a:r>
          <a:endParaRPr lang="en-US" sz="1700" kern="1200"/>
        </a:p>
      </dsp:txBody>
      <dsp:txXfrm>
        <a:off x="765914" y="2934701"/>
        <a:ext cx="4320000" cy="673944"/>
      </dsp:txXfrm>
    </dsp:sp>
    <dsp:sp modelId="{3384EEF1-2C46-4B8D-AC0C-08B14E79BD5A}">
      <dsp:nvSpPr>
        <dsp:cNvPr id="0" name=""/>
        <dsp:cNvSpPr/>
      </dsp:nvSpPr>
      <dsp:spPr>
        <a:xfrm>
          <a:off x="5841914" y="58415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8C6D4-459F-43C5-8D16-9C82D7F91CE0}">
      <dsp:nvSpPr>
        <dsp:cNvPr id="0" name=""/>
        <dsp:cNvSpPr/>
      </dsp:nvSpPr>
      <dsp:spPr>
        <a:xfrm>
          <a:off x="5841914" y="222621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0" i="0" kern="1200"/>
            <a:t>res is </a:t>
          </a:r>
          <a:r>
            <a:rPr lang="en-US" sz="2400" b="1" i="0" kern="1200"/>
            <a:t>your reply letter</a:t>
          </a:r>
          <a:r>
            <a:rPr lang="en-US" sz="2400" b="0" i="0" kern="1200"/>
            <a:t>, where:</a:t>
          </a:r>
          <a:endParaRPr lang="en-US" sz="2400" kern="1200"/>
        </a:p>
      </dsp:txBody>
      <dsp:txXfrm>
        <a:off x="5841914" y="2226212"/>
        <a:ext cx="4320000" cy="648000"/>
      </dsp:txXfrm>
    </dsp:sp>
    <dsp:sp modelId="{716F074A-F77C-4845-8EF7-3C4F3C67262D}">
      <dsp:nvSpPr>
        <dsp:cNvPr id="0" name=""/>
        <dsp:cNvSpPr/>
      </dsp:nvSpPr>
      <dsp:spPr>
        <a:xfrm>
          <a:off x="5841914" y="2934701"/>
          <a:ext cx="4320000" cy="673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You choose what to send back, what tone (status code), and how it’s packaged (headers).</a:t>
          </a:r>
          <a:endParaRPr lang="en-US" sz="1700" kern="1200"/>
        </a:p>
      </dsp:txBody>
      <dsp:txXfrm>
        <a:off x="5841914" y="2934701"/>
        <a:ext cx="4320000" cy="6739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2E171-505C-8C47-8ADE-6C9C8934DE97}">
      <dsp:nvSpPr>
        <dsp:cNvPr id="0" name=""/>
        <dsp:cNvSpPr/>
      </dsp:nvSpPr>
      <dsp:spPr>
        <a:xfrm>
          <a:off x="0" y="4167346"/>
          <a:ext cx="6900512" cy="13678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/>
            <a:t>URL Path: /, /about, /api/user, etc.</a:t>
          </a:r>
          <a:endParaRPr lang="en-US" sz="3300" kern="1200"/>
        </a:p>
      </dsp:txBody>
      <dsp:txXfrm>
        <a:off x="0" y="4167346"/>
        <a:ext cx="6900512" cy="1367816"/>
      </dsp:txXfrm>
    </dsp:sp>
    <dsp:sp modelId="{1B8E4B7E-3C47-D340-8935-C317F3C22D96}">
      <dsp:nvSpPr>
        <dsp:cNvPr id="0" name=""/>
        <dsp:cNvSpPr/>
      </dsp:nvSpPr>
      <dsp:spPr>
        <a:xfrm rot="10800000">
          <a:off x="0" y="2084162"/>
          <a:ext cx="6900512" cy="2103701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/>
            <a:t>HTTP Method: GET, POST, PUT, DELETE, etc.</a:t>
          </a:r>
          <a:endParaRPr lang="en-US" sz="3300" kern="1200"/>
        </a:p>
      </dsp:txBody>
      <dsp:txXfrm rot="10800000">
        <a:off x="0" y="2084162"/>
        <a:ext cx="6900512" cy="1366922"/>
      </dsp:txXfrm>
    </dsp:sp>
    <dsp:sp modelId="{83A10627-4450-8F4B-9392-85AD825A4038}">
      <dsp:nvSpPr>
        <dsp:cNvPr id="0" name=""/>
        <dsp:cNvSpPr/>
      </dsp:nvSpPr>
      <dsp:spPr>
        <a:xfrm rot="10800000">
          <a:off x="0" y="978"/>
          <a:ext cx="6900512" cy="2103701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/>
            <a:t>Routing means deciding </a:t>
          </a:r>
          <a:r>
            <a:rPr lang="en-US" sz="3300" b="1" i="0" kern="1200"/>
            <a:t>what code to run</a:t>
          </a:r>
          <a:r>
            <a:rPr lang="en-US" sz="3300" b="0" i="0" kern="1200"/>
            <a:t> based on:</a:t>
          </a:r>
          <a:endParaRPr lang="en-US" sz="3300" kern="1200"/>
        </a:p>
      </dsp:txBody>
      <dsp:txXfrm rot="10800000">
        <a:off x="0" y="978"/>
        <a:ext cx="6900512" cy="13669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93439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751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24B_AD410E2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microsoft.com/office/2018/10/relationships/comments" Target="../comments/modernComment_24C_55FDF8AC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25A_DE34173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127760" y="1428932"/>
            <a:ext cx="1016067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Open Sans"/>
              <a:buNone/>
            </a:pPr>
            <a:r>
              <a:rPr lang="en-US" sz="4000" b="1" i="0" u="none" strike="noStrike" cap="none" dirty="0">
                <a:solidFill>
                  <a:srgbClr val="262626"/>
                </a:solidFill>
                <a:latin typeface="Source Sans 3" panose="020B0303030403020204" pitchFamily="34" charset="0"/>
                <a:ea typeface="Open Sans"/>
                <a:cs typeface="Open Sans"/>
                <a:sym typeface="Open Sans"/>
              </a:rPr>
              <a:t>WEEK 2 – </a:t>
            </a:r>
            <a:r>
              <a:rPr lang="pt-BR" sz="4000" b="1" i="0" u="none" strike="noStrike" cap="none" dirty="0">
                <a:solidFill>
                  <a:srgbClr val="F58C29"/>
                </a:solidFill>
                <a:latin typeface="Source Sans 3" panose="020B0303030403020204" pitchFamily="34" charset="0"/>
                <a:ea typeface="Open Sans"/>
                <a:cs typeface="Open Sans"/>
                <a:sym typeface="Open Sans"/>
              </a:rPr>
              <a:t>  </a:t>
            </a:r>
            <a:r>
              <a:rPr lang="pt-BR" sz="3600" b="1" i="0" u="none" strike="noStrike" cap="none" dirty="0" err="1">
                <a:solidFill>
                  <a:srgbClr val="F58C29"/>
                </a:solidFill>
                <a:latin typeface="Source Sans 3" panose="020B0303030403020204" pitchFamily="34" charset="0"/>
                <a:ea typeface="Open Sans"/>
                <a:cs typeface="Open Sans"/>
                <a:sym typeface="Open Sans"/>
              </a:rPr>
              <a:t>Native</a:t>
            </a:r>
            <a:r>
              <a:rPr lang="pt-BR" sz="3600" b="1" i="0" u="none" strike="noStrike" cap="none" dirty="0">
                <a:solidFill>
                  <a:srgbClr val="F58C29"/>
                </a:solidFill>
                <a:latin typeface="Source Sans 3" panose="020B0303030403020204" pitchFamily="34" charset="0"/>
                <a:ea typeface="Open Sans"/>
                <a:cs typeface="Open Sans"/>
                <a:sym typeface="Open Sans"/>
              </a:rPr>
              <a:t> HTTP Server &amp; Manual </a:t>
            </a:r>
            <a:r>
              <a:rPr lang="pt-BR" sz="3600" b="1" i="0" u="none" strike="noStrike" cap="none" dirty="0" err="1">
                <a:solidFill>
                  <a:srgbClr val="F58C29"/>
                </a:solidFill>
                <a:latin typeface="Source Sans 3" panose="020B0303030403020204" pitchFamily="34" charset="0"/>
                <a:ea typeface="Open Sans"/>
                <a:cs typeface="Open Sans"/>
                <a:sym typeface="Open Sans"/>
              </a:rPr>
              <a:t>Routing</a:t>
            </a:r>
            <a:endParaRPr sz="1200" b="0" i="0" u="none" strike="noStrike" cap="none" dirty="0">
              <a:solidFill>
                <a:srgbClr val="F58C29"/>
              </a:solidFill>
              <a:latin typeface="Source Sans 3" panose="020B0303030403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09327" y="626725"/>
            <a:ext cx="672850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>
                    <a:lumMod val="50000"/>
                  </a:schemeClr>
                </a:solidFill>
                <a:latin typeface="Source Sans 3" panose="020B0303030403020204" pitchFamily="34" charset="0"/>
                <a:ea typeface="Calibri"/>
                <a:cs typeface="Calibri"/>
                <a:sym typeface="Calibri"/>
              </a:rPr>
              <a:t>BACK-END DEVELOPMENT </a:t>
            </a:r>
          </a:p>
        </p:txBody>
      </p:sp>
      <p:cxnSp>
        <p:nvCxnSpPr>
          <p:cNvPr id="93" name="Google Shape;93;p1"/>
          <p:cNvCxnSpPr/>
          <p:nvPr/>
        </p:nvCxnSpPr>
        <p:spPr>
          <a:xfrm>
            <a:off x="1354839" y="1324987"/>
            <a:ext cx="96374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574D5CA-8FA1-45CA-99CB-E92DF91C7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880" y="6021238"/>
            <a:ext cx="990977" cy="51767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225358-26FF-9DCB-20B9-EF0780C476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03" y="3063990"/>
            <a:ext cx="3018295" cy="258507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CDA05-F537-3BF7-3B0F-0E8E31AF1E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1628478" y="647095"/>
            <a:ext cx="722412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Source Sans 3" panose="020B0303030403020204" pitchFamily="34" charset="0"/>
                <a:ea typeface="Calibri"/>
                <a:cs typeface="Calibri"/>
                <a:sym typeface="Calibri"/>
              </a:rPr>
              <a:t>After Finishin</a:t>
            </a:r>
            <a:r>
              <a:rPr lang="en-US" sz="4000" b="1" dirty="0">
                <a:solidFill>
                  <a:schemeClr val="dk1"/>
                </a:solidFill>
                <a:latin typeface="Source Sans 3" panose="020B0303030403020204" pitchFamily="34" charset="0"/>
                <a:ea typeface="Calibri"/>
                <a:cs typeface="Calibri"/>
                <a:sym typeface="Calibri"/>
              </a:rPr>
              <a:t>g This Lecture:</a:t>
            </a:r>
            <a:endParaRPr sz="4000" b="1" i="0" u="none" strike="noStrike" cap="none" dirty="0">
              <a:solidFill>
                <a:schemeClr val="dk1"/>
              </a:solidFill>
              <a:latin typeface="Source Sans 3" panose="020B0303030403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6;p11">
            <a:extLst>
              <a:ext uri="{FF2B5EF4-FFF2-40B4-BE49-F238E27FC236}">
                <a16:creationId xmlns:a16="http://schemas.microsoft.com/office/drawing/2014/main" id="{58FFF478-82AD-4C7E-9A42-078744BB2532}"/>
              </a:ext>
            </a:extLst>
          </p:cNvPr>
          <p:cNvSpPr txBox="1"/>
          <p:nvPr/>
        </p:nvSpPr>
        <p:spPr>
          <a:xfrm>
            <a:off x="1628478" y="1779727"/>
            <a:ext cx="9591972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basic HTTP server using Node.js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Manually route HTTP requests using method + URL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query parameters and request body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how request and response objects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BAAC549B-FC9C-2910-7222-9AF75BE3DDD2}"/>
              </a:ext>
            </a:extLst>
          </p:cNvPr>
          <p:cNvSpPr txBox="1"/>
          <p:nvPr/>
        </p:nvSpPr>
        <p:spPr>
          <a:xfrm>
            <a:off x="640080" y="329184"/>
            <a:ext cx="6894576" cy="178308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54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What is http in </a:t>
            </a:r>
            <a:r>
              <a:rPr lang="en-US" sz="5400" b="1" i="0" u="none" strike="noStrike" kern="1200" cap="none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node.js</a:t>
            </a:r>
            <a:endParaRPr lang="en-US" sz="5400" b="1" i="0" u="none" strike="noStrike" kern="1200" cap="none" dirty="0">
              <a:solidFill>
                <a:schemeClr val="tx1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61570-73A7-EA27-B377-24BE5734712D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+mn-cs"/>
              </a:rPr>
              <a:t>Built-in module to create web servers.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+mn-cs"/>
              </a:rPr>
              <a:t>Provides tools to handle requests, responses, and network events.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rgbClr val="FF0000"/>
                </a:solidFill>
                <a:latin typeface="Source Sans 3" panose="020B0303030403020204" pitchFamily="34" charset="0"/>
                <a:ea typeface="+mn-ea"/>
                <a:cs typeface="+mn-cs"/>
              </a:rPr>
              <a:t>No need to install it. It's part of Node.js core.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schemeClr val="tx1"/>
              </a:solidFill>
              <a:latin typeface="Source Sans 3" panose="020B0303030403020204" pitchFamily="34" charset="0"/>
              <a:ea typeface="+mn-ea"/>
              <a:cs typeface="+mn-cs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kern="1200" dirty="0">
              <a:solidFill>
                <a:schemeClr val="tx1"/>
              </a:solidFill>
              <a:latin typeface="Source Sans 3" panose="020B0303030403020204" pitchFamily="34" charset="0"/>
              <a:ea typeface="+mn-ea"/>
              <a:cs typeface="+mn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C9D5E9E-344E-9E1A-B11A-F0CB4F3E4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3840" y="811337"/>
            <a:ext cx="4014216" cy="2465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243C1D-5A78-B4EB-4BB4-C891D6630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613" y="4448556"/>
            <a:ext cx="5232822" cy="129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26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E742CC6E-D70A-5478-5CBC-32B84AD5A73F}"/>
              </a:ext>
            </a:extLst>
          </p:cNvPr>
          <p:cNvSpPr txBox="1"/>
          <p:nvPr/>
        </p:nvSpPr>
        <p:spPr>
          <a:xfrm>
            <a:off x="640080" y="329184"/>
            <a:ext cx="6894576" cy="178308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54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What's Inside the http Module?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315B5B-1408-248F-CDC5-86775C0BF33C}"/>
              </a:ext>
            </a:extLst>
          </p:cNvPr>
          <p:cNvSpPr txBox="1"/>
          <p:nvPr/>
        </p:nvSpPr>
        <p:spPr>
          <a:xfrm>
            <a:off x="640080" y="2706624"/>
            <a:ext cx="6894576" cy="1874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http.createServer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(): Creates a server instance.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 (</a:t>
            </a:r>
            <a:r>
              <a:rPr lang="en-US" sz="2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IncomingMessage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 represents the client request.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 (</a:t>
            </a:r>
            <a:r>
              <a:rPr lang="en-US" sz="2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ServerResponse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 represents the server response.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FA5506A-1A14-3414-FB06-DD037AEB1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3840" y="811337"/>
            <a:ext cx="4014216" cy="24656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477B53-9581-F65C-935F-B01A3359C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28" y="4567569"/>
            <a:ext cx="6181406" cy="216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87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23B15645-7282-ADE5-EB47-F964A6759F10}"/>
              </a:ext>
            </a:extLst>
          </p:cNvPr>
          <p:cNvSpPr txBox="1"/>
          <p:nvPr/>
        </p:nvSpPr>
        <p:spPr>
          <a:xfrm>
            <a:off x="630936" y="457200"/>
            <a:ext cx="4343400" cy="192938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48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Creating an HTTP Server</a:t>
            </a:r>
          </a:p>
        </p:txBody>
      </p:sp>
      <p:sp>
        <p:nvSpPr>
          <p:cNvPr id="39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63CA36-5F0C-0447-023B-EDAE94E9147B}"/>
              </a:ext>
            </a:extLst>
          </p:cNvPr>
          <p:cNvSpPr txBox="1"/>
          <p:nvPr/>
        </p:nvSpPr>
        <p:spPr>
          <a:xfrm>
            <a:off x="5541263" y="457200"/>
            <a:ext cx="6007608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Activity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happens if we don't call res.end()?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Why is the callback in listen() useful?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B072CD-4D78-B980-31B3-F6D544565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3260629"/>
            <a:ext cx="5468112" cy="22966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BC94DC-06A1-4655-8195-68FE27F29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301639"/>
            <a:ext cx="5468112" cy="221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7218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96F771BB-68A6-0332-7811-AC28E2AF7EDF}"/>
              </a:ext>
            </a:extLst>
          </p:cNvPr>
          <p:cNvSpPr txBox="1"/>
          <p:nvPr/>
        </p:nvSpPr>
        <p:spPr>
          <a:xfrm>
            <a:off x="1198181" y="560881"/>
            <a:ext cx="9795638" cy="111438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52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What is </a:t>
            </a:r>
            <a:r>
              <a:rPr lang="en-US" sz="5200" b="1" i="0" u="none" strike="noStrike" kern="1200" cap="none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res.end</a:t>
            </a:r>
            <a:r>
              <a:rPr lang="en-US" sz="52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()?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2D96E-491B-91C1-5CB1-9C8F7F563A98}"/>
              </a:ext>
            </a:extLst>
          </p:cNvPr>
          <p:cNvSpPr txBox="1"/>
          <p:nvPr/>
        </p:nvSpPr>
        <p:spPr>
          <a:xfrm>
            <a:off x="959920" y="2689412"/>
            <a:ext cx="102721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 err="1"/>
              <a:t>res.end</a:t>
            </a:r>
            <a:r>
              <a:rPr lang="en-US" sz="2800" i="1" dirty="0"/>
              <a:t>() </a:t>
            </a:r>
            <a:r>
              <a:rPr lang="en-US" sz="2800" dirty="0"/>
              <a:t>is a method on the Server Response object that </a:t>
            </a:r>
            <a:r>
              <a:rPr lang="en-US" sz="2800" b="1" dirty="0"/>
              <a:t>ends the response process</a:t>
            </a:r>
            <a:r>
              <a:rPr lang="en-US" sz="2800" dirty="0"/>
              <a:t>. </a:t>
            </a:r>
          </a:p>
          <a:p>
            <a:endParaRPr lang="en-US" sz="2800" dirty="0"/>
          </a:p>
          <a:p>
            <a:r>
              <a:rPr lang="en-US" sz="2800" dirty="0"/>
              <a:t>It tells the server, </a:t>
            </a:r>
            <a:r>
              <a:rPr lang="en-US" sz="2800" i="1" dirty="0"/>
              <a:t>"I'm done sending data to the client."</a:t>
            </a:r>
            <a:endParaRPr lang="en-KH" sz="2800" dirty="0"/>
          </a:p>
        </p:txBody>
      </p:sp>
    </p:spTree>
    <p:extLst>
      <p:ext uri="{BB962C8B-B14F-4D97-AF65-F5344CB8AC3E}">
        <p14:creationId xmlns:p14="http://schemas.microsoft.com/office/powerpoint/2010/main" val="3331742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81757D65-56FA-9FE9-292C-FF9E3B872BAD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4400" b="1" i="0" u="none" strike="noStrike" kern="1200" cap="none" dirty="0">
                <a:solidFill>
                  <a:srgbClr val="FFFFFF"/>
                </a:solidFill>
                <a:latin typeface="Source Sans 3" panose="020B0303030403020204" pitchFamily="34" charset="0"/>
                <a:ea typeface="+mj-ea"/>
                <a:cs typeface="+mj-cs"/>
                <a:sym typeface="Calibri"/>
              </a:rPr>
              <a:t>Real-World Analogy</a:t>
            </a:r>
          </a:p>
        </p:txBody>
      </p:sp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7C3D89A3-192F-EB74-3A4E-6B75EA2F53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009623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1862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8A460688-27D0-C279-422B-E85117198AB6}"/>
              </a:ext>
            </a:extLst>
          </p:cNvPr>
          <p:cNvSpPr txBox="1"/>
          <p:nvPr/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54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Manual Routing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extBox 3">
            <a:extLst>
              <a:ext uri="{FF2B5EF4-FFF2-40B4-BE49-F238E27FC236}">
                <a16:creationId xmlns:a16="http://schemas.microsoft.com/office/drawing/2014/main" id="{ECA6C970-46E5-0616-AC10-5BC6B91BF9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651931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27076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109;p3">
            <a:extLst>
              <a:ext uri="{FF2B5EF4-FFF2-40B4-BE49-F238E27FC236}">
                <a16:creationId xmlns:a16="http://schemas.microsoft.com/office/drawing/2014/main" id="{A3E7F74E-E5D5-F474-8457-F7ECB0188B33}"/>
              </a:ext>
            </a:extLst>
          </p:cNvPr>
          <p:cNvSpPr txBox="1"/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46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Manual Routing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135475-45D5-28F8-688B-34F8CF4F8780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req.method: checks the </a:t>
            </a:r>
            <a:r>
              <a:rPr lang="en-US" sz="2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 method</a:t>
            </a:r>
            <a:r>
              <a:rPr lang="en-US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(GET, POST, etc.)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req.url: checks the </a:t>
            </a:r>
            <a:r>
              <a:rPr lang="en-US" sz="2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requested path</a:t>
            </a:r>
            <a:r>
              <a:rPr lang="en-US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(/, /about, etc.)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use basic if/else or switch to match routes.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14EC6F-FD06-216D-A617-AFAB2B76D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026" y="1258557"/>
            <a:ext cx="6243771" cy="511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09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14D7B-FA4A-8A1B-6C30-511199E6ACBC}"/>
              </a:ext>
            </a:extLst>
          </p:cNvPr>
          <p:cNvSpPr txBox="1"/>
          <p:nvPr/>
        </p:nvSpPr>
        <p:spPr>
          <a:xfrm>
            <a:off x="838200" y="451381"/>
            <a:ext cx="10512552" cy="40665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mini challenge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96E47-E79B-3A98-C19A-4261E27358E1}"/>
              </a:ext>
            </a:extLst>
          </p:cNvPr>
          <p:cNvSpPr txBox="1"/>
          <p:nvPr/>
        </p:nvSpPr>
        <p:spPr>
          <a:xfrm>
            <a:off x="838199" y="4983276"/>
            <a:ext cx="10512552" cy="1126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✏️ 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 a new route: GET /contact that responds with “Contact us at </a:t>
            </a:r>
            <a:r>
              <a:rPr lang="en-US" sz="24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support@example.com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.”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21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66135-A90B-7B97-72B2-2C9184E230FB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Bonus: Use switch for Cleaner Routing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F0AAD5-99DB-60D2-4A42-57C5BCF87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044" y="2102834"/>
            <a:ext cx="8751912" cy="413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85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82C54D-D599-AD33-E30B-34277191B6CA}"/>
              </a:ext>
            </a:extLst>
          </p:cNvPr>
          <p:cNvSpPr txBox="1"/>
          <p:nvPr/>
        </p:nvSpPr>
        <p:spPr>
          <a:xfrm>
            <a:off x="4415116" y="1675261"/>
            <a:ext cx="4361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 i="0" dirty="0">
                <a:solidFill>
                  <a:srgbClr val="272626"/>
                </a:solidFill>
                <a:effectLst/>
                <a:latin typeface="Source Sans 3" panose="020B0303030403020204" pitchFamily="34" charset="0"/>
              </a:rPr>
              <a:t>Uniform Resource Locator (URL)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55083F-12D8-D747-7C58-C0E0B7294F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571" b="26332"/>
          <a:stretch/>
        </p:blipFill>
        <p:spPr>
          <a:xfrm>
            <a:off x="554515" y="2486943"/>
            <a:ext cx="11079508" cy="3332930"/>
          </a:xfrm>
          <a:prstGeom prst="rect">
            <a:avLst/>
          </a:prstGeom>
        </p:spPr>
      </p:pic>
      <p:sp>
        <p:nvSpPr>
          <p:cNvPr id="5" name="Google Shape;109;p3">
            <a:extLst>
              <a:ext uri="{FF2B5EF4-FFF2-40B4-BE49-F238E27FC236}">
                <a16:creationId xmlns:a16="http://schemas.microsoft.com/office/drawing/2014/main" id="{1644E797-0C6D-C371-EC13-688A6476E380}"/>
              </a:ext>
            </a:extLst>
          </p:cNvPr>
          <p:cNvSpPr txBox="1"/>
          <p:nvPr/>
        </p:nvSpPr>
        <p:spPr>
          <a:xfrm>
            <a:off x="1198181" y="560881"/>
            <a:ext cx="9795638" cy="111438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Web Components</a:t>
            </a:r>
          </a:p>
        </p:txBody>
      </p:sp>
    </p:spTree>
    <p:extLst>
      <p:ext uri="{BB962C8B-B14F-4D97-AF65-F5344CB8AC3E}">
        <p14:creationId xmlns:p14="http://schemas.microsoft.com/office/powerpoint/2010/main" val="995591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5B01F15C-3079-625A-2CBD-8A13024D1238}"/>
              </a:ext>
            </a:extLst>
          </p:cNvPr>
          <p:cNvSpPr txBox="1"/>
          <p:nvPr/>
        </p:nvSpPr>
        <p:spPr>
          <a:xfrm>
            <a:off x="682132" y="433410"/>
            <a:ext cx="10827735" cy="111438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32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How can we handle that URL in node’s http module?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04CE57-346B-34C4-BEC4-3B39B0AA3D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571" b="26332"/>
          <a:stretch/>
        </p:blipFill>
        <p:spPr>
          <a:xfrm>
            <a:off x="1736608" y="1705234"/>
            <a:ext cx="8718782" cy="26227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9D6D11-1DE0-CAAD-2B59-63DC27F74128}"/>
              </a:ext>
            </a:extLst>
          </p:cNvPr>
          <p:cNvSpPr txBox="1"/>
          <p:nvPr/>
        </p:nvSpPr>
        <p:spPr>
          <a:xfrm>
            <a:off x="2026024" y="4993070"/>
            <a:ext cx="42134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Method =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KH" sz="1800" dirty="0">
                <a:latin typeface="Consolas" panose="020B0609020204030204" pitchFamily="49" charset="0"/>
                <a:cs typeface="Consolas" panose="020B0609020204030204" pitchFamily="49" charset="0"/>
              </a:rPr>
              <a:t>ath = /blog</a:t>
            </a:r>
          </a:p>
          <a:p>
            <a:r>
              <a:rPr lang="en-KH" sz="1800" dirty="0">
                <a:latin typeface="Consolas" panose="020B0609020204030204" pitchFamily="49" charset="0"/>
                <a:cs typeface="Consolas" panose="020B0609020204030204" pitchFamily="49" charset="0"/>
              </a:rPr>
              <a:t>Query:</a:t>
            </a:r>
          </a:p>
          <a:p>
            <a:r>
              <a:rPr lang="en-KH" sz="1800" dirty="0">
                <a:latin typeface="Consolas" panose="020B0609020204030204" pitchFamily="49" charset="0"/>
                <a:cs typeface="Consolas" panose="020B0609020204030204" pitchFamily="49" charset="0"/>
              </a:rPr>
              <a:t>   - search=test</a:t>
            </a:r>
          </a:p>
          <a:p>
            <a:r>
              <a:rPr lang="en-KH" sz="1800" dirty="0">
                <a:latin typeface="Consolas" panose="020B0609020204030204" pitchFamily="49" charset="0"/>
                <a:cs typeface="Consolas" panose="020B0609020204030204" pitchFamily="49" charset="0"/>
              </a:rPr>
              <a:t>   - sort_by=created_at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FDE1B-F04B-6719-D9A8-01F7322F822D}"/>
              </a:ext>
            </a:extLst>
          </p:cNvPr>
          <p:cNvSpPr txBox="1"/>
          <p:nvPr/>
        </p:nvSpPr>
        <p:spPr>
          <a:xfrm>
            <a:off x="2026024" y="4485456"/>
            <a:ext cx="8982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H" sz="2000" dirty="0">
                <a:latin typeface="Consolas" panose="020B0609020204030204" pitchFamily="49" charset="0"/>
                <a:cs typeface="Consolas" panose="020B0609020204030204" pitchFamily="49" charset="0"/>
              </a:rPr>
              <a:t>curl "http://localhost:8080/blog?search=sdfsdf&amp;sort_by=sdfsd"</a:t>
            </a:r>
          </a:p>
        </p:txBody>
      </p:sp>
    </p:spTree>
    <p:extLst>
      <p:ext uri="{BB962C8B-B14F-4D97-AF65-F5344CB8AC3E}">
        <p14:creationId xmlns:p14="http://schemas.microsoft.com/office/powerpoint/2010/main" val="2735237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80ACD4-C10B-2A97-C259-B7D62AED4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46" y="2077178"/>
            <a:ext cx="11001307" cy="3749881"/>
          </a:xfrm>
          <a:prstGeom prst="rect">
            <a:avLst/>
          </a:prstGeom>
        </p:spPr>
      </p:pic>
      <p:sp>
        <p:nvSpPr>
          <p:cNvPr id="4" name="Google Shape;109;p3">
            <a:extLst>
              <a:ext uri="{FF2B5EF4-FFF2-40B4-BE49-F238E27FC236}">
                <a16:creationId xmlns:a16="http://schemas.microsoft.com/office/drawing/2014/main" id="{A62AFFCC-9250-D96F-E276-9604272A9C2A}"/>
              </a:ext>
            </a:extLst>
          </p:cNvPr>
          <p:cNvSpPr txBox="1"/>
          <p:nvPr/>
        </p:nvSpPr>
        <p:spPr>
          <a:xfrm>
            <a:off x="682132" y="433410"/>
            <a:ext cx="10827735" cy="111438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32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How can we handle that URL in node’s http module?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F2654-ADA7-28E1-C14C-B9B6F0855722}"/>
              </a:ext>
            </a:extLst>
          </p:cNvPr>
          <p:cNvSpPr txBox="1"/>
          <p:nvPr/>
        </p:nvSpPr>
        <p:spPr>
          <a:xfrm>
            <a:off x="8175814" y="2269919"/>
            <a:ext cx="37831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Method = GET</a:t>
            </a:r>
          </a:p>
          <a:p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K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ath = /blog</a:t>
            </a:r>
          </a:p>
          <a:p>
            <a:r>
              <a:rPr lang="en-K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Query:</a:t>
            </a:r>
          </a:p>
          <a:p>
            <a:r>
              <a:rPr lang="en-K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- search=test</a:t>
            </a:r>
          </a:p>
          <a:p>
            <a:r>
              <a:rPr lang="en-K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- sort_by=created_at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B1DC91-E018-B756-990A-76415FF9CD8C}"/>
              </a:ext>
            </a:extLst>
          </p:cNvPr>
          <p:cNvSpPr/>
          <p:nvPr/>
        </p:nvSpPr>
        <p:spPr>
          <a:xfrm>
            <a:off x="1942559" y="3997021"/>
            <a:ext cx="4784060" cy="543448"/>
          </a:xfrm>
          <a:custGeom>
            <a:avLst/>
            <a:gdLst>
              <a:gd name="connsiteX0" fmla="*/ 0 w 4784060"/>
              <a:gd name="connsiteY0" fmla="*/ 0 h 543448"/>
              <a:gd name="connsiteX1" fmla="*/ 587756 w 4784060"/>
              <a:gd name="connsiteY1" fmla="*/ 0 h 543448"/>
              <a:gd name="connsiteX2" fmla="*/ 1319034 w 4784060"/>
              <a:gd name="connsiteY2" fmla="*/ 0 h 543448"/>
              <a:gd name="connsiteX3" fmla="*/ 2050311 w 4784060"/>
              <a:gd name="connsiteY3" fmla="*/ 0 h 543448"/>
              <a:gd name="connsiteX4" fmla="*/ 2829430 w 4784060"/>
              <a:gd name="connsiteY4" fmla="*/ 0 h 543448"/>
              <a:gd name="connsiteX5" fmla="*/ 3417186 w 4784060"/>
              <a:gd name="connsiteY5" fmla="*/ 0 h 543448"/>
              <a:gd name="connsiteX6" fmla="*/ 4004942 w 4784060"/>
              <a:gd name="connsiteY6" fmla="*/ 0 h 543448"/>
              <a:gd name="connsiteX7" fmla="*/ 4784060 w 4784060"/>
              <a:gd name="connsiteY7" fmla="*/ 0 h 543448"/>
              <a:gd name="connsiteX8" fmla="*/ 4784060 w 4784060"/>
              <a:gd name="connsiteY8" fmla="*/ 543448 h 543448"/>
              <a:gd name="connsiteX9" fmla="*/ 4148463 w 4784060"/>
              <a:gd name="connsiteY9" fmla="*/ 543448 h 543448"/>
              <a:gd name="connsiteX10" fmla="*/ 3560708 w 4784060"/>
              <a:gd name="connsiteY10" fmla="*/ 543448 h 543448"/>
              <a:gd name="connsiteX11" fmla="*/ 2925111 w 4784060"/>
              <a:gd name="connsiteY11" fmla="*/ 543448 h 543448"/>
              <a:gd name="connsiteX12" fmla="*/ 2145993 w 4784060"/>
              <a:gd name="connsiteY12" fmla="*/ 543448 h 543448"/>
              <a:gd name="connsiteX13" fmla="*/ 1510396 w 4784060"/>
              <a:gd name="connsiteY13" fmla="*/ 543448 h 543448"/>
              <a:gd name="connsiteX14" fmla="*/ 779118 w 4784060"/>
              <a:gd name="connsiteY14" fmla="*/ 543448 h 543448"/>
              <a:gd name="connsiteX15" fmla="*/ 0 w 4784060"/>
              <a:gd name="connsiteY15" fmla="*/ 543448 h 543448"/>
              <a:gd name="connsiteX16" fmla="*/ 0 w 4784060"/>
              <a:gd name="connsiteY16" fmla="*/ 0 h 543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84060" h="543448" extrusionOk="0">
                <a:moveTo>
                  <a:pt x="0" y="0"/>
                </a:moveTo>
                <a:cubicBezTo>
                  <a:pt x="177524" y="-12707"/>
                  <a:pt x="435811" y="25538"/>
                  <a:pt x="587756" y="0"/>
                </a:cubicBezTo>
                <a:cubicBezTo>
                  <a:pt x="739701" y="-25538"/>
                  <a:pt x="1007733" y="-31210"/>
                  <a:pt x="1319034" y="0"/>
                </a:cubicBezTo>
                <a:cubicBezTo>
                  <a:pt x="1630335" y="31210"/>
                  <a:pt x="1750464" y="31468"/>
                  <a:pt x="2050311" y="0"/>
                </a:cubicBezTo>
                <a:cubicBezTo>
                  <a:pt x="2350158" y="-31468"/>
                  <a:pt x="2474219" y="25977"/>
                  <a:pt x="2829430" y="0"/>
                </a:cubicBezTo>
                <a:cubicBezTo>
                  <a:pt x="3184641" y="-25977"/>
                  <a:pt x="3196306" y="29344"/>
                  <a:pt x="3417186" y="0"/>
                </a:cubicBezTo>
                <a:cubicBezTo>
                  <a:pt x="3638066" y="-29344"/>
                  <a:pt x="3723528" y="-21905"/>
                  <a:pt x="4004942" y="0"/>
                </a:cubicBezTo>
                <a:cubicBezTo>
                  <a:pt x="4286356" y="21905"/>
                  <a:pt x="4488480" y="13973"/>
                  <a:pt x="4784060" y="0"/>
                </a:cubicBezTo>
                <a:cubicBezTo>
                  <a:pt x="4775854" y="239983"/>
                  <a:pt x="4793666" y="279728"/>
                  <a:pt x="4784060" y="543448"/>
                </a:cubicBezTo>
                <a:cubicBezTo>
                  <a:pt x="4500907" y="528030"/>
                  <a:pt x="4460506" y="517644"/>
                  <a:pt x="4148463" y="543448"/>
                </a:cubicBezTo>
                <a:cubicBezTo>
                  <a:pt x="3836420" y="569252"/>
                  <a:pt x="3850237" y="555895"/>
                  <a:pt x="3560708" y="543448"/>
                </a:cubicBezTo>
                <a:cubicBezTo>
                  <a:pt x="3271180" y="531001"/>
                  <a:pt x="3237605" y="572102"/>
                  <a:pt x="2925111" y="543448"/>
                </a:cubicBezTo>
                <a:cubicBezTo>
                  <a:pt x="2612617" y="514794"/>
                  <a:pt x="2419938" y="530169"/>
                  <a:pt x="2145993" y="543448"/>
                </a:cubicBezTo>
                <a:cubicBezTo>
                  <a:pt x="1872048" y="556727"/>
                  <a:pt x="1769584" y="556400"/>
                  <a:pt x="1510396" y="543448"/>
                </a:cubicBezTo>
                <a:cubicBezTo>
                  <a:pt x="1251208" y="530496"/>
                  <a:pt x="977119" y="510160"/>
                  <a:pt x="779118" y="543448"/>
                </a:cubicBezTo>
                <a:cubicBezTo>
                  <a:pt x="581117" y="576736"/>
                  <a:pt x="362946" y="546155"/>
                  <a:pt x="0" y="543448"/>
                </a:cubicBezTo>
                <a:cubicBezTo>
                  <a:pt x="9441" y="406583"/>
                  <a:pt x="6916" y="222897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85285468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H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87D24EE-78BB-FA2A-A63D-409AFB3512F3}"/>
              </a:ext>
            </a:extLst>
          </p:cNvPr>
          <p:cNvCxnSpPr/>
          <p:nvPr/>
        </p:nvCxnSpPr>
        <p:spPr>
          <a:xfrm flipV="1">
            <a:off x="6842234" y="3429000"/>
            <a:ext cx="1671145" cy="7120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347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Background">
            <a:extLst>
              <a:ext uri="{FF2B5EF4-FFF2-40B4-BE49-F238E27FC236}">
                <a16:creationId xmlns:a16="http://schemas.microsoft.com/office/drawing/2014/main" id="{B50D074C-5457-4294-A181-6B67F4146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129836"/>
            <a:ext cx="12192000" cy="1720199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EF083A7B-DE0E-B77F-5E13-7650450ECC20}"/>
              </a:ext>
            </a:extLst>
          </p:cNvPr>
          <p:cNvSpPr txBox="1"/>
          <p:nvPr/>
        </p:nvSpPr>
        <p:spPr>
          <a:xfrm>
            <a:off x="589558" y="5429992"/>
            <a:ext cx="6973355" cy="111988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33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Request and Response Objects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919EC5-A71D-53EA-3131-31BD0F3832F5}"/>
              </a:ext>
            </a:extLst>
          </p:cNvPr>
          <p:cNvSpPr txBox="1"/>
          <p:nvPr/>
        </p:nvSpPr>
        <p:spPr>
          <a:xfrm>
            <a:off x="7562912" y="5429992"/>
            <a:ext cx="4156945" cy="1119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Properties of req (Request)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FD5C47-BE4F-DE9D-6461-EC9FB8E2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248155"/>
              </p:ext>
            </p:extLst>
          </p:nvPr>
        </p:nvGraphicFramePr>
        <p:xfrm>
          <a:off x="1395177" y="575094"/>
          <a:ext cx="9401253" cy="4048665"/>
        </p:xfrm>
        <a:graphic>
          <a:graphicData uri="http://schemas.openxmlformats.org/drawingml/2006/table">
            <a:tbl>
              <a:tblPr firstRow="1" bandRow="1">
                <a:tableStyleId>{EC0BD0D1-5134-4630-968A-EB55C5758A8E}</a:tableStyleId>
              </a:tblPr>
              <a:tblGrid>
                <a:gridCol w="2974802">
                  <a:extLst>
                    <a:ext uri="{9D8B030D-6E8A-4147-A177-3AD203B41FA5}">
                      <a16:colId xmlns:a16="http://schemas.microsoft.com/office/drawing/2014/main" val="2798279626"/>
                    </a:ext>
                  </a:extLst>
                </a:gridCol>
                <a:gridCol w="6426451">
                  <a:extLst>
                    <a:ext uri="{9D8B030D-6E8A-4147-A177-3AD203B41FA5}">
                      <a16:colId xmlns:a16="http://schemas.microsoft.com/office/drawing/2014/main" val="3683654021"/>
                    </a:ext>
                  </a:extLst>
                </a:gridCol>
              </a:tblGrid>
              <a:tr h="636219">
                <a:tc>
                  <a:txBody>
                    <a:bodyPr/>
                    <a:lstStyle/>
                    <a:p>
                      <a:r>
                        <a:rPr lang="en-US" sz="2200" b="1" dirty="0"/>
                        <a:t>Property</a:t>
                      </a:r>
                    </a:p>
                  </a:txBody>
                  <a:tcPr marL="144595" marR="144595" marT="72298" marB="72298"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Description</a:t>
                      </a:r>
                    </a:p>
                  </a:txBody>
                  <a:tcPr marL="144595" marR="144595" marT="72298" marB="72298" anchor="ctr"/>
                </a:tc>
                <a:extLst>
                  <a:ext uri="{0D108BD9-81ED-4DB2-BD59-A6C34878D82A}">
                    <a16:rowId xmlns:a16="http://schemas.microsoft.com/office/drawing/2014/main" val="2810339817"/>
                  </a:ext>
                </a:extLst>
              </a:tr>
              <a:tr h="636219">
                <a:tc>
                  <a:txBody>
                    <a:bodyPr/>
                    <a:lstStyle/>
                    <a:p>
                      <a:r>
                        <a:rPr lang="en-US" sz="2200"/>
                        <a:t>req.method</a:t>
                      </a:r>
                    </a:p>
                  </a:txBody>
                  <a:tcPr marL="144595" marR="144595" marT="72298" marB="72298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HTTP method like GET, POST, etc.</a:t>
                      </a:r>
                    </a:p>
                  </a:txBody>
                  <a:tcPr marL="144595" marR="144595" marT="72298" marB="72298" anchor="ctr"/>
                </a:tc>
                <a:extLst>
                  <a:ext uri="{0D108BD9-81ED-4DB2-BD59-A6C34878D82A}">
                    <a16:rowId xmlns:a16="http://schemas.microsoft.com/office/drawing/2014/main" val="2649200937"/>
                  </a:ext>
                </a:extLst>
              </a:tr>
              <a:tr h="1070004">
                <a:tc>
                  <a:txBody>
                    <a:bodyPr/>
                    <a:lstStyle/>
                    <a:p>
                      <a:r>
                        <a:rPr lang="en-US" sz="2200"/>
                        <a:t>req.url</a:t>
                      </a:r>
                    </a:p>
                  </a:txBody>
                  <a:tcPr marL="144595" marR="144595" marT="72298" marB="72298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The requested path (can include query string)</a:t>
                      </a:r>
                    </a:p>
                  </a:txBody>
                  <a:tcPr marL="144595" marR="144595" marT="72298" marB="72298" anchor="ctr"/>
                </a:tc>
                <a:extLst>
                  <a:ext uri="{0D108BD9-81ED-4DB2-BD59-A6C34878D82A}">
                    <a16:rowId xmlns:a16="http://schemas.microsoft.com/office/drawing/2014/main" val="1150303986"/>
                  </a:ext>
                </a:extLst>
              </a:tr>
              <a:tr h="636219">
                <a:tc>
                  <a:txBody>
                    <a:bodyPr/>
                    <a:lstStyle/>
                    <a:p>
                      <a:r>
                        <a:rPr lang="en-US" sz="2200"/>
                        <a:t>req.headers</a:t>
                      </a:r>
                    </a:p>
                  </a:txBody>
                  <a:tcPr marL="144595" marR="144595" marT="72298" marB="72298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Object of key-value headers</a:t>
                      </a:r>
                    </a:p>
                  </a:txBody>
                  <a:tcPr marL="144595" marR="144595" marT="72298" marB="72298" anchor="ctr"/>
                </a:tc>
                <a:extLst>
                  <a:ext uri="{0D108BD9-81ED-4DB2-BD59-A6C34878D82A}">
                    <a16:rowId xmlns:a16="http://schemas.microsoft.com/office/drawing/2014/main" val="844486613"/>
                  </a:ext>
                </a:extLst>
              </a:tr>
              <a:tr h="1070004">
                <a:tc>
                  <a:txBody>
                    <a:bodyPr/>
                    <a:lstStyle/>
                    <a:p>
                      <a:r>
                        <a:rPr lang="en-US" sz="2200"/>
                        <a:t>req.body</a:t>
                      </a:r>
                    </a:p>
                  </a:txBody>
                  <a:tcPr marL="144595" marR="144595" marT="72298" marB="72298" anchor="ctr"/>
                </a:tc>
                <a:tc>
                  <a:txBody>
                    <a:bodyPr/>
                    <a:lstStyle/>
                    <a:p>
                      <a:r>
                        <a:rPr lang="en-KH" sz="2200" dirty="0"/>
                        <a:t>🚫 </a:t>
                      </a:r>
                      <a:r>
                        <a:rPr lang="en-US" sz="2200" dirty="0"/>
                        <a:t>Does NOT exist by default! You must read it manually using streams</a:t>
                      </a:r>
                    </a:p>
                  </a:txBody>
                  <a:tcPr marL="144595" marR="144595" marT="72298" marB="72298" anchor="ctr"/>
                </a:tc>
                <a:extLst>
                  <a:ext uri="{0D108BD9-81ED-4DB2-BD59-A6C34878D82A}">
                    <a16:rowId xmlns:a16="http://schemas.microsoft.com/office/drawing/2014/main" val="3434321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345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2BC95-C6C7-1695-24C7-1BC92A9AB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Background">
            <a:extLst>
              <a:ext uri="{FF2B5EF4-FFF2-40B4-BE49-F238E27FC236}">
                <a16:creationId xmlns:a16="http://schemas.microsoft.com/office/drawing/2014/main" id="{B50D074C-5457-4294-A181-6B67F4146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129836"/>
            <a:ext cx="12192000" cy="1720199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107784B3-77E7-53F9-2E63-14E6F9E1C028}"/>
              </a:ext>
            </a:extLst>
          </p:cNvPr>
          <p:cNvSpPr txBox="1"/>
          <p:nvPr/>
        </p:nvSpPr>
        <p:spPr>
          <a:xfrm>
            <a:off x="589558" y="5429992"/>
            <a:ext cx="6973355" cy="111988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33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Request and Response Objects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B70CCA-8894-23F6-AB2B-37E6B511D5C9}"/>
              </a:ext>
            </a:extLst>
          </p:cNvPr>
          <p:cNvSpPr txBox="1"/>
          <p:nvPr/>
        </p:nvSpPr>
        <p:spPr>
          <a:xfrm>
            <a:off x="7562912" y="5429992"/>
            <a:ext cx="4156945" cy="1119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Methods/Properties of res (Response)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757B14-17DB-711D-1599-7ACD71086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719983"/>
              </p:ext>
            </p:extLst>
          </p:nvPr>
        </p:nvGraphicFramePr>
        <p:xfrm>
          <a:off x="761802" y="724358"/>
          <a:ext cx="10668004" cy="3750140"/>
        </p:xfrm>
        <a:graphic>
          <a:graphicData uri="http://schemas.openxmlformats.org/drawingml/2006/table">
            <a:tbl>
              <a:tblPr firstRow="1" bandRow="1">
                <a:tableStyleId>{EC0BD0D1-5134-4630-968A-EB55C5758A8E}</a:tableStyleId>
              </a:tblPr>
              <a:tblGrid>
                <a:gridCol w="3735932">
                  <a:extLst>
                    <a:ext uri="{9D8B030D-6E8A-4147-A177-3AD203B41FA5}">
                      <a16:colId xmlns:a16="http://schemas.microsoft.com/office/drawing/2014/main" val="2798279626"/>
                    </a:ext>
                  </a:extLst>
                </a:gridCol>
                <a:gridCol w="6932072">
                  <a:extLst>
                    <a:ext uri="{9D8B030D-6E8A-4147-A177-3AD203B41FA5}">
                      <a16:colId xmlns:a16="http://schemas.microsoft.com/office/drawing/2014/main" val="3683654021"/>
                    </a:ext>
                  </a:extLst>
                </a:gridCol>
              </a:tblGrid>
              <a:tr h="750028">
                <a:tc>
                  <a:txBody>
                    <a:bodyPr/>
                    <a:lstStyle/>
                    <a:p>
                      <a:r>
                        <a:rPr lang="en-US" sz="2600" b="1"/>
                        <a:t>Property/Method</a:t>
                      </a:r>
                    </a:p>
                  </a:txBody>
                  <a:tcPr marL="170461" marR="170461" marT="85230" marB="85230" anchor="ctr"/>
                </a:tc>
                <a:tc>
                  <a:txBody>
                    <a:bodyPr/>
                    <a:lstStyle/>
                    <a:p>
                      <a:r>
                        <a:rPr lang="en-US" sz="2600" b="1" dirty="0"/>
                        <a:t>Description</a:t>
                      </a:r>
                    </a:p>
                  </a:txBody>
                  <a:tcPr marL="170461" marR="170461" marT="85230" marB="85230" anchor="ctr"/>
                </a:tc>
                <a:extLst>
                  <a:ext uri="{0D108BD9-81ED-4DB2-BD59-A6C34878D82A}">
                    <a16:rowId xmlns:a16="http://schemas.microsoft.com/office/drawing/2014/main" val="2810339817"/>
                  </a:ext>
                </a:extLst>
              </a:tr>
              <a:tr h="750028">
                <a:tc>
                  <a:txBody>
                    <a:bodyPr/>
                    <a:lstStyle/>
                    <a:p>
                      <a:r>
                        <a:rPr lang="en-US" sz="2600"/>
                        <a:t>res.writeHead()</a:t>
                      </a:r>
                    </a:p>
                  </a:txBody>
                  <a:tcPr marL="170461" marR="170461" marT="85230" marB="85230"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Sets status code and headers</a:t>
                      </a:r>
                    </a:p>
                  </a:txBody>
                  <a:tcPr marL="170461" marR="170461" marT="85230" marB="85230" anchor="ctr"/>
                </a:tc>
                <a:extLst>
                  <a:ext uri="{0D108BD9-81ED-4DB2-BD59-A6C34878D82A}">
                    <a16:rowId xmlns:a16="http://schemas.microsoft.com/office/drawing/2014/main" val="2649200937"/>
                  </a:ext>
                </a:extLst>
              </a:tr>
              <a:tr h="750028">
                <a:tc>
                  <a:txBody>
                    <a:bodyPr/>
                    <a:lstStyle/>
                    <a:p>
                      <a:r>
                        <a:rPr lang="en-US" sz="2600"/>
                        <a:t>res.write()</a:t>
                      </a:r>
                    </a:p>
                  </a:txBody>
                  <a:tcPr marL="170461" marR="170461" marT="85230" marB="85230"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Sends chunks of data</a:t>
                      </a:r>
                    </a:p>
                  </a:txBody>
                  <a:tcPr marL="170461" marR="170461" marT="85230" marB="85230" anchor="ctr"/>
                </a:tc>
                <a:extLst>
                  <a:ext uri="{0D108BD9-81ED-4DB2-BD59-A6C34878D82A}">
                    <a16:rowId xmlns:a16="http://schemas.microsoft.com/office/drawing/2014/main" val="1150303986"/>
                  </a:ext>
                </a:extLst>
              </a:tr>
              <a:tr h="750028">
                <a:tc>
                  <a:txBody>
                    <a:bodyPr/>
                    <a:lstStyle/>
                    <a:p>
                      <a:r>
                        <a:rPr lang="en-US" sz="2600"/>
                        <a:t>res.end()</a:t>
                      </a:r>
                    </a:p>
                  </a:txBody>
                  <a:tcPr marL="170461" marR="170461" marT="85230" marB="85230"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Finalizes and sends the response</a:t>
                      </a:r>
                    </a:p>
                  </a:txBody>
                  <a:tcPr marL="170461" marR="170461" marT="85230" marB="85230" anchor="ctr"/>
                </a:tc>
                <a:extLst>
                  <a:ext uri="{0D108BD9-81ED-4DB2-BD59-A6C34878D82A}">
                    <a16:rowId xmlns:a16="http://schemas.microsoft.com/office/drawing/2014/main" val="844486613"/>
                  </a:ext>
                </a:extLst>
              </a:tr>
              <a:tr h="750028">
                <a:tc>
                  <a:txBody>
                    <a:bodyPr/>
                    <a:lstStyle/>
                    <a:p>
                      <a:r>
                        <a:rPr lang="en-US" sz="2600"/>
                        <a:t>res.setHeader()</a:t>
                      </a:r>
                    </a:p>
                  </a:txBody>
                  <a:tcPr marL="170461" marR="170461" marT="85230" marB="85230" anchor="ctr"/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Sets headers individually</a:t>
                      </a:r>
                    </a:p>
                  </a:txBody>
                  <a:tcPr marL="170461" marR="170461" marT="85230" marB="85230" anchor="ctr"/>
                </a:tc>
                <a:extLst>
                  <a:ext uri="{0D108BD9-81ED-4DB2-BD59-A6C34878D82A}">
                    <a16:rowId xmlns:a16="http://schemas.microsoft.com/office/drawing/2014/main" val="3434321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9938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CB7F0F89-B15F-4352-28C1-75A681C345E7}"/>
              </a:ext>
            </a:extLst>
          </p:cNvPr>
          <p:cNvSpPr txBox="1"/>
          <p:nvPr/>
        </p:nvSpPr>
        <p:spPr>
          <a:xfrm>
            <a:off x="876693" y="741391"/>
            <a:ext cx="3455821" cy="161620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32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Reading the Body (e.g., POST request)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6DE0D-1829-3436-516A-C282EE80A24D}"/>
              </a:ext>
            </a:extLst>
          </p:cNvPr>
          <p:cNvSpPr txBox="1"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Why Is the Body a Stream?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 is a 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readable stream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 body arrives in 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chunks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(especially for large payloads).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must 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 chunks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then process the whole body when the stream ends.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1842D4-A191-A413-4C56-0CCC3AD5F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313" y="1373092"/>
            <a:ext cx="7144525" cy="460821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08C4397-1256-75DB-9795-77C73111E305}"/>
              </a:ext>
            </a:extLst>
          </p:cNvPr>
          <p:cNvSpPr/>
          <p:nvPr/>
        </p:nvSpPr>
        <p:spPr>
          <a:xfrm>
            <a:off x="5113867" y="3166533"/>
            <a:ext cx="6417733" cy="2607734"/>
          </a:xfrm>
          <a:custGeom>
            <a:avLst/>
            <a:gdLst>
              <a:gd name="connsiteX0" fmla="*/ 0 w 6417733"/>
              <a:gd name="connsiteY0" fmla="*/ 0 h 2607734"/>
              <a:gd name="connsiteX1" fmla="*/ 449241 w 6417733"/>
              <a:gd name="connsiteY1" fmla="*/ 0 h 2607734"/>
              <a:gd name="connsiteX2" fmla="*/ 898483 w 6417733"/>
              <a:gd name="connsiteY2" fmla="*/ 0 h 2607734"/>
              <a:gd name="connsiteX3" fmla="*/ 1476079 w 6417733"/>
              <a:gd name="connsiteY3" fmla="*/ 0 h 2607734"/>
              <a:gd name="connsiteX4" fmla="*/ 1989497 w 6417733"/>
              <a:gd name="connsiteY4" fmla="*/ 0 h 2607734"/>
              <a:gd name="connsiteX5" fmla="*/ 2695448 w 6417733"/>
              <a:gd name="connsiteY5" fmla="*/ 0 h 2607734"/>
              <a:gd name="connsiteX6" fmla="*/ 3144689 w 6417733"/>
              <a:gd name="connsiteY6" fmla="*/ 0 h 2607734"/>
              <a:gd name="connsiteX7" fmla="*/ 3722285 w 6417733"/>
              <a:gd name="connsiteY7" fmla="*/ 0 h 2607734"/>
              <a:gd name="connsiteX8" fmla="*/ 4492413 w 6417733"/>
              <a:gd name="connsiteY8" fmla="*/ 0 h 2607734"/>
              <a:gd name="connsiteX9" fmla="*/ 5005832 w 6417733"/>
              <a:gd name="connsiteY9" fmla="*/ 0 h 2607734"/>
              <a:gd name="connsiteX10" fmla="*/ 5711782 w 6417733"/>
              <a:gd name="connsiteY10" fmla="*/ 0 h 2607734"/>
              <a:gd name="connsiteX11" fmla="*/ 6417733 w 6417733"/>
              <a:gd name="connsiteY11" fmla="*/ 0 h 2607734"/>
              <a:gd name="connsiteX12" fmla="*/ 6417733 w 6417733"/>
              <a:gd name="connsiteY12" fmla="*/ 573701 h 2607734"/>
              <a:gd name="connsiteX13" fmla="*/ 6417733 w 6417733"/>
              <a:gd name="connsiteY13" fmla="*/ 1277790 h 2607734"/>
              <a:gd name="connsiteX14" fmla="*/ 6417733 w 6417733"/>
              <a:gd name="connsiteY14" fmla="*/ 1851491 h 2607734"/>
              <a:gd name="connsiteX15" fmla="*/ 6417733 w 6417733"/>
              <a:gd name="connsiteY15" fmla="*/ 2607734 h 2607734"/>
              <a:gd name="connsiteX16" fmla="*/ 5904314 w 6417733"/>
              <a:gd name="connsiteY16" fmla="*/ 2607734 h 2607734"/>
              <a:gd name="connsiteX17" fmla="*/ 5455073 w 6417733"/>
              <a:gd name="connsiteY17" fmla="*/ 2607734 h 2607734"/>
              <a:gd name="connsiteX18" fmla="*/ 4877477 w 6417733"/>
              <a:gd name="connsiteY18" fmla="*/ 2607734 h 2607734"/>
              <a:gd name="connsiteX19" fmla="*/ 4299881 w 6417733"/>
              <a:gd name="connsiteY19" fmla="*/ 2607734 h 2607734"/>
              <a:gd name="connsiteX20" fmla="*/ 3593930 w 6417733"/>
              <a:gd name="connsiteY20" fmla="*/ 2607734 h 2607734"/>
              <a:gd name="connsiteX21" fmla="*/ 2952157 w 6417733"/>
              <a:gd name="connsiteY21" fmla="*/ 2607734 h 2607734"/>
              <a:gd name="connsiteX22" fmla="*/ 2182029 w 6417733"/>
              <a:gd name="connsiteY22" fmla="*/ 2607734 h 2607734"/>
              <a:gd name="connsiteX23" fmla="*/ 1411901 w 6417733"/>
              <a:gd name="connsiteY23" fmla="*/ 2607734 h 2607734"/>
              <a:gd name="connsiteX24" fmla="*/ 641773 w 6417733"/>
              <a:gd name="connsiteY24" fmla="*/ 2607734 h 2607734"/>
              <a:gd name="connsiteX25" fmla="*/ 0 w 6417733"/>
              <a:gd name="connsiteY25" fmla="*/ 2607734 h 2607734"/>
              <a:gd name="connsiteX26" fmla="*/ 0 w 6417733"/>
              <a:gd name="connsiteY26" fmla="*/ 2007955 h 2607734"/>
              <a:gd name="connsiteX27" fmla="*/ 0 w 6417733"/>
              <a:gd name="connsiteY27" fmla="*/ 1303867 h 2607734"/>
              <a:gd name="connsiteX28" fmla="*/ 0 w 6417733"/>
              <a:gd name="connsiteY28" fmla="*/ 625856 h 2607734"/>
              <a:gd name="connsiteX29" fmla="*/ 0 w 6417733"/>
              <a:gd name="connsiteY29" fmla="*/ 0 h 2607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417733" h="2607734" extrusionOk="0">
                <a:moveTo>
                  <a:pt x="0" y="0"/>
                </a:moveTo>
                <a:cubicBezTo>
                  <a:pt x="200230" y="14973"/>
                  <a:pt x="303265" y="1834"/>
                  <a:pt x="449241" y="0"/>
                </a:cubicBezTo>
                <a:cubicBezTo>
                  <a:pt x="595217" y="-1834"/>
                  <a:pt x="743891" y="18051"/>
                  <a:pt x="898483" y="0"/>
                </a:cubicBezTo>
                <a:cubicBezTo>
                  <a:pt x="1053075" y="-18051"/>
                  <a:pt x="1215381" y="-12537"/>
                  <a:pt x="1476079" y="0"/>
                </a:cubicBezTo>
                <a:cubicBezTo>
                  <a:pt x="1736777" y="12537"/>
                  <a:pt x="1827576" y="14477"/>
                  <a:pt x="1989497" y="0"/>
                </a:cubicBezTo>
                <a:cubicBezTo>
                  <a:pt x="2151418" y="-14477"/>
                  <a:pt x="2389678" y="-17665"/>
                  <a:pt x="2695448" y="0"/>
                </a:cubicBezTo>
                <a:cubicBezTo>
                  <a:pt x="3001218" y="17665"/>
                  <a:pt x="2993508" y="-15873"/>
                  <a:pt x="3144689" y="0"/>
                </a:cubicBezTo>
                <a:cubicBezTo>
                  <a:pt x="3295870" y="15873"/>
                  <a:pt x="3506490" y="9117"/>
                  <a:pt x="3722285" y="0"/>
                </a:cubicBezTo>
                <a:cubicBezTo>
                  <a:pt x="3938080" y="-9117"/>
                  <a:pt x="4309365" y="20346"/>
                  <a:pt x="4492413" y="0"/>
                </a:cubicBezTo>
                <a:cubicBezTo>
                  <a:pt x="4675461" y="-20346"/>
                  <a:pt x="4834178" y="-23643"/>
                  <a:pt x="5005832" y="0"/>
                </a:cubicBezTo>
                <a:cubicBezTo>
                  <a:pt x="5177486" y="23643"/>
                  <a:pt x="5553045" y="22555"/>
                  <a:pt x="5711782" y="0"/>
                </a:cubicBezTo>
                <a:cubicBezTo>
                  <a:pt x="5870519" y="-22555"/>
                  <a:pt x="6223544" y="8235"/>
                  <a:pt x="6417733" y="0"/>
                </a:cubicBezTo>
                <a:cubicBezTo>
                  <a:pt x="6397371" y="205561"/>
                  <a:pt x="6392302" y="390914"/>
                  <a:pt x="6417733" y="573701"/>
                </a:cubicBezTo>
                <a:cubicBezTo>
                  <a:pt x="6443164" y="756488"/>
                  <a:pt x="6423522" y="1107816"/>
                  <a:pt x="6417733" y="1277790"/>
                </a:cubicBezTo>
                <a:cubicBezTo>
                  <a:pt x="6411944" y="1447764"/>
                  <a:pt x="6397227" y="1592713"/>
                  <a:pt x="6417733" y="1851491"/>
                </a:cubicBezTo>
                <a:cubicBezTo>
                  <a:pt x="6438239" y="2110269"/>
                  <a:pt x="6401145" y="2447003"/>
                  <a:pt x="6417733" y="2607734"/>
                </a:cubicBezTo>
                <a:cubicBezTo>
                  <a:pt x="6264771" y="2601859"/>
                  <a:pt x="6087372" y="2631130"/>
                  <a:pt x="5904314" y="2607734"/>
                </a:cubicBezTo>
                <a:cubicBezTo>
                  <a:pt x="5721256" y="2584338"/>
                  <a:pt x="5600521" y="2613267"/>
                  <a:pt x="5455073" y="2607734"/>
                </a:cubicBezTo>
                <a:cubicBezTo>
                  <a:pt x="5309625" y="2602201"/>
                  <a:pt x="5043395" y="2618836"/>
                  <a:pt x="4877477" y="2607734"/>
                </a:cubicBezTo>
                <a:cubicBezTo>
                  <a:pt x="4711559" y="2596632"/>
                  <a:pt x="4516121" y="2585415"/>
                  <a:pt x="4299881" y="2607734"/>
                </a:cubicBezTo>
                <a:cubicBezTo>
                  <a:pt x="4083641" y="2630053"/>
                  <a:pt x="3907174" y="2615005"/>
                  <a:pt x="3593930" y="2607734"/>
                </a:cubicBezTo>
                <a:cubicBezTo>
                  <a:pt x="3280686" y="2600463"/>
                  <a:pt x="3187504" y="2585726"/>
                  <a:pt x="2952157" y="2607734"/>
                </a:cubicBezTo>
                <a:cubicBezTo>
                  <a:pt x="2716810" y="2629742"/>
                  <a:pt x="2375616" y="2644556"/>
                  <a:pt x="2182029" y="2607734"/>
                </a:cubicBezTo>
                <a:cubicBezTo>
                  <a:pt x="1988442" y="2570912"/>
                  <a:pt x="1770012" y="2584903"/>
                  <a:pt x="1411901" y="2607734"/>
                </a:cubicBezTo>
                <a:cubicBezTo>
                  <a:pt x="1053790" y="2630565"/>
                  <a:pt x="965238" y="2600977"/>
                  <a:pt x="641773" y="2607734"/>
                </a:cubicBezTo>
                <a:cubicBezTo>
                  <a:pt x="318308" y="2614491"/>
                  <a:pt x="283978" y="2599447"/>
                  <a:pt x="0" y="2607734"/>
                </a:cubicBezTo>
                <a:cubicBezTo>
                  <a:pt x="5449" y="2384017"/>
                  <a:pt x="-17561" y="2183432"/>
                  <a:pt x="0" y="2007955"/>
                </a:cubicBezTo>
                <a:cubicBezTo>
                  <a:pt x="17561" y="1832478"/>
                  <a:pt x="-3261" y="1588429"/>
                  <a:pt x="0" y="1303867"/>
                </a:cubicBezTo>
                <a:cubicBezTo>
                  <a:pt x="3261" y="1019305"/>
                  <a:pt x="11087" y="909842"/>
                  <a:pt x="0" y="625856"/>
                </a:cubicBezTo>
                <a:cubicBezTo>
                  <a:pt x="-11087" y="341870"/>
                  <a:pt x="-5801" y="262264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4830288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989781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109;p3">
            <a:extLst>
              <a:ext uri="{FF2B5EF4-FFF2-40B4-BE49-F238E27FC236}">
                <a16:creationId xmlns:a16="http://schemas.microsoft.com/office/drawing/2014/main" id="{2AD4C157-1B83-953E-0BF5-1E4AD0B47860}"/>
              </a:ext>
            </a:extLst>
          </p:cNvPr>
          <p:cNvSpPr txBox="1"/>
          <p:nvPr/>
        </p:nvSpPr>
        <p:spPr>
          <a:xfrm>
            <a:off x="841248" y="548640"/>
            <a:ext cx="3600860" cy="543153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54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How to POST request with body using CURL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C14981-ADEE-25CD-570A-6DA79C3FC9DF}"/>
              </a:ext>
            </a:extLst>
          </p:cNvPr>
          <p:cNvSpPr txBox="1"/>
          <p:nvPr/>
        </p:nvSpPr>
        <p:spPr>
          <a:xfrm>
            <a:off x="5126418" y="3374476"/>
            <a:ext cx="6224335" cy="2133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-X POST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explicitly sets the HTTP method (optional if using -d)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-H "Content-Type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application/</a:t>
            </a:r>
            <a:r>
              <a:rPr lang="en-US" sz="2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json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": tells the server you're sending JSON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-d</a:t>
            </a:r>
            <a:r>
              <a: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sends the request body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0EB74-2977-AD3B-C89C-582CC2430316}"/>
              </a:ext>
            </a:extLst>
          </p:cNvPr>
          <p:cNvSpPr txBox="1"/>
          <p:nvPr/>
        </p:nvSpPr>
        <p:spPr>
          <a:xfrm>
            <a:off x="5126418" y="1027579"/>
            <a:ext cx="61694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H" sz="2000" dirty="0">
                <a:latin typeface="Consolas" panose="020B0609020204030204" pitchFamily="49" charset="0"/>
                <a:cs typeface="Consolas" panose="020B0609020204030204" pitchFamily="49" charset="0"/>
              </a:rPr>
              <a:t>curl -X POST https://example.com/api \</a:t>
            </a:r>
          </a:p>
          <a:p>
            <a:r>
              <a:rPr lang="en-KH" sz="2000" dirty="0">
                <a:latin typeface="Consolas" panose="020B0609020204030204" pitchFamily="49" charset="0"/>
                <a:cs typeface="Consolas" panose="020B0609020204030204" pitchFamily="49" charset="0"/>
              </a:rPr>
              <a:t>  -H "Content-Type: application/json" \</a:t>
            </a:r>
          </a:p>
          <a:p>
            <a:r>
              <a:rPr lang="en-KH" sz="2000" dirty="0">
                <a:latin typeface="Consolas" panose="020B0609020204030204" pitchFamily="49" charset="0"/>
                <a:cs typeface="Consolas" panose="020B0609020204030204" pitchFamily="49" charset="0"/>
              </a:rPr>
              <a:t>  -d '{"key1":"value1", "key2":"value2"}'</a:t>
            </a:r>
          </a:p>
        </p:txBody>
      </p:sp>
    </p:spTree>
    <p:extLst>
      <p:ext uri="{BB962C8B-B14F-4D97-AF65-F5344CB8AC3E}">
        <p14:creationId xmlns:p14="http://schemas.microsoft.com/office/powerpoint/2010/main" val="325048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oogle Shape;109;p3">
            <a:extLst>
              <a:ext uri="{FF2B5EF4-FFF2-40B4-BE49-F238E27FC236}">
                <a16:creationId xmlns:a16="http://schemas.microsoft.com/office/drawing/2014/main" id="{8EF4B18C-472E-7ADC-33FF-0DD2BED6C80C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000"/>
            </a:pPr>
            <a:r>
              <a:rPr lang="en-US" sz="5400" b="1" i="0" u="none" strike="noStrike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Get Your Hand Dirty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7F766A-8305-3313-F8D6-9F82DEF3A439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happens if you send malformed JSON?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if you send data in URL-encoded format instead?</a:t>
            </a:r>
          </a:p>
        </p:txBody>
      </p:sp>
    </p:spTree>
    <p:extLst>
      <p:ext uri="{BB962C8B-B14F-4D97-AF65-F5344CB8AC3E}">
        <p14:creationId xmlns:p14="http://schemas.microsoft.com/office/powerpoint/2010/main" val="2329972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6;p11">
            <a:extLst>
              <a:ext uri="{FF2B5EF4-FFF2-40B4-BE49-F238E27FC236}">
                <a16:creationId xmlns:a16="http://schemas.microsoft.com/office/drawing/2014/main" id="{58FFF478-82AD-4C7E-9A42-078744BB2532}"/>
              </a:ext>
            </a:extLst>
          </p:cNvPr>
          <p:cNvSpPr txBox="1"/>
          <p:nvPr/>
        </p:nvSpPr>
        <p:spPr>
          <a:xfrm>
            <a:off x="1628478" y="1779727"/>
            <a:ext cx="9591972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basic HTTP server using Node.js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Manually route HTTP requests using method + URL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query parameters and request body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Source Sans 3" panose="020B03030304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how request and response objects work</a:t>
            </a:r>
          </a:p>
        </p:txBody>
      </p:sp>
      <p:sp>
        <p:nvSpPr>
          <p:cNvPr id="7" name="Google Shape;98;p2">
            <a:extLst>
              <a:ext uri="{FF2B5EF4-FFF2-40B4-BE49-F238E27FC236}">
                <a16:creationId xmlns:a16="http://schemas.microsoft.com/office/drawing/2014/main" id="{85AE4C1F-805A-4A68-9CBD-E210027ACF7F}"/>
              </a:ext>
            </a:extLst>
          </p:cNvPr>
          <p:cNvSpPr txBox="1"/>
          <p:nvPr/>
        </p:nvSpPr>
        <p:spPr>
          <a:xfrm>
            <a:off x="3134558" y="506899"/>
            <a:ext cx="588733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HAVE LEARNT</a:t>
            </a:r>
            <a:endParaRPr sz="4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99;p2">
            <a:extLst>
              <a:ext uri="{FF2B5EF4-FFF2-40B4-BE49-F238E27FC236}">
                <a16:creationId xmlns:a16="http://schemas.microsoft.com/office/drawing/2014/main" id="{3010E627-DAC4-4FD0-B701-49A0915CFD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266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0;p2">
            <a:extLst>
              <a:ext uri="{FF2B5EF4-FFF2-40B4-BE49-F238E27FC236}">
                <a16:creationId xmlns:a16="http://schemas.microsoft.com/office/drawing/2014/main" id="{E5CF8A0C-D6EC-48E8-8138-915EABBD2F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698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6768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751</Words>
  <Application>Microsoft Office PowerPoint</Application>
  <PresentationFormat>Widescreen</PresentationFormat>
  <Paragraphs>100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Consolas</vt:lpstr>
      <vt:lpstr>Open Sans</vt:lpstr>
      <vt:lpstr>Source Sans 3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CLEMENT VINOT</dc:creator>
  <cp:lastModifiedBy>PC</cp:lastModifiedBy>
  <cp:revision>96</cp:revision>
  <dcterms:created xsi:type="dcterms:W3CDTF">2021-02-09T07:01:05Z</dcterms:created>
  <dcterms:modified xsi:type="dcterms:W3CDTF">2025-05-03T13:03:35Z</dcterms:modified>
</cp:coreProperties>
</file>